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SITUACIÓN DOCUMENTAL</c:v>
                </c:pt>
              </c:strCache>
            </c:strRef>
          </c:tx>
          <c:spPr>
            <a:solidFill>
              <a:srgbClr val="D12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1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Testimonio + DDRR</c:v>
                  </c:pt>
                  <c:pt idx="1">
                    <c:v>Testimonio</c:v>
                  </c:pt>
                  <c:pt idx="2">
                    <c:v>Título ejecutorial</c:v>
                  </c:pt>
                  <c:pt idx="3">
                    <c:v>Documento privado</c:v>
                  </c:pt>
                  <c:pt idx="4">
                    <c:v>Sin documentación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12</c:v>
                </c:pt>
                <c:pt idx="2">
                  <c:v>1</c:v>
                </c:pt>
                <c:pt idx="3">
                  <c:v>3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1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TITULARIDAD / REGISTRO CONSIGNADO</c:v>
                </c:pt>
              </c:strCache>
            </c:strRef>
          </c:tx>
          <c:spPr>
            <a:solidFill>
              <a:srgbClr val="D12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1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INCERPAZ</c:v>
                  </c:pt>
                  <c:pt idx="1">
                    <c:v>PROTEJA</c:v>
                  </c:pt>
                  <c:pt idx="2">
                    <c:v>David Paz</c:v>
                  </c:pt>
                  <c:pt idx="3">
                    <c:v>Terceros</c:v>
                  </c:pt>
                  <c:pt idx="4">
                    <c:v>Sin registro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1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Cuota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1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12B3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Roberto Chávez Flores</c:v>
                </c:pt>
                <c:pt idx="1">
                  <c:v>INCERPAZ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80.42</c:v>
                </c:pt>
                <c:pt idx="1">
                  <c:v>19.572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Cuota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1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12B3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Diferencia</c:v>
                </c:pt>
                <c:pt idx="1">
                  <c:v>Compra citada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56.2</c:v>
                </c:pt>
                <c:pt idx="1">
                  <c:v>43.8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Alcance: cinco casos priorizados a partir de la matriz de cruces y documentos disponibles. La imagen aérea es un recurso de contexto, no una delimitación predial. No se afirma que correspondan a cinco polígonos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matriz mayor identifica registros históricos y preliminares. Las superficies marcadas con asterisco son sumas aritméticas de áreas nominales listadas, no certificaciones vigentes ni polígonos ya conciliados. Antonio: 52.663,14 m² de compra citada frente a 120.281 m² en plano, diferencia aritmética de 67.617,86 m². No interpretar proporciones como cuotas de propiedad.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carpeta de seguimiento tiene campos de responsable, fecha de revisión, estado y acción vacíos para estos registros; el plan de trabajo deja la asignación pendiente. La memoria maestra señala que el inventario general incluye registros preliminares y una discrepancia de conteo en otra consolidación; por ello este informe no extrapola el estado de los cinco casos al universo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Hallazgos críticos para Directorio: el universo patrimonial aún no está plenamente conciliado entre documentos, contabilidad, Derechos Reales y ubicación física; la inspección evidencia excavaciones, caminos, pozas, diques, acopios e infraestructura industrial/minera; AJAM y Defensoría documentaron minería irregular y riesgos ambientales en Viacha durante 2025-2026; existen varias ubicaciones ocupadas por terceros, se desconoce si de forma legal o irregular. Conclusión del informe: 40 de 50 predios carecen de superficie consolidada.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 jurídico (informe de Directorio): ocupación reciente, riesgo bajo; ocupación ilegal de varios años, medio; ocupación próxima o superior a 10 años con actos de dueño puede permitir usucapión, alto; demanda de usucapión en trámite, muy alto; sentencia favorable apelable, crítico; sentencia ejecutoriada, total. Decisiones solicitadas al Directorio: inventario maestro, mapa maestro georreferenciado, completar evidencia (fotografías, imágenes históricas, muestreo selectivo), investigar operadores (SEPREC, AJAM, SENARECOM), acciones de protección y valorización. Se precisa un sponsor financiero para sustentar los gastos operativos y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principal: Informe documental de terrenos Roberto Chávez, revisión de Folio Real de fecha 14/10/2026; matrícula 2.08.1.01.0019611, superficie 9,3250 ha, titulares Roberto Chávez Flores 80,42% e INCERPAZ Ltda. 19,572%; dos gravámenes. Las cuotas suman 99,992%, diferencia aritmética de 0,008% pendiente de aclaración. La participación ideal no equivale a polígono físico. La lista preliminar atribuye carga tributaria, sin evidencia suficiente sobre ambos asientos. Folio Real documento 1.293.550, trámite 1.997.596, antecedente WANG 1101644; informe documental de terrenos de Roberto Chávez, 14/10/2026, pp. 1–2; mayor cuenta 12102002030. Falta verificar el estado actual del folio. Verificación inmediata: solicitar Folio Real certificado y actualizado, copia íntegra de gravámenes y plano georreferenciado que conecte matrícula y ubicación.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Matriz_Cruces_Terrenos_Arcilla.xlsx, fila Martha Quispe Ali; INCERPAZ.docx; Informe de Ariel León del 09/04/2012, páginas 6–9. Suma aritmética: 13,3570 ha. El testimonio 914/93 aparece como referencia y se reporta inscrito a favor de INCERPAZ, pero no se dispone de cuatro folios certificados vigentes ni polígonos conciliados.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Matriz_Cruces_Terrenos_Arcilla.xlsx, fila Hortencia Quispe de Quispe; INCERPAZ.docx; Informe de Ariel León del 09/04/2012, páginas 6–9. Suma 18,5512 ha. Testimonio 718/96 aparece en copia; Ariel León menciona Quispe-Limachi como referencia separada o relacionada, por lo que no se trata como confirmación independiente ni duplicado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Ariel León, Informe Terrenos Arcilla INCERPAZ, 09/04/2012, páginas 1–2: contrato simple de 19/03/2007 por 52.663,14 m²; matrícula 2.08.1.01.0000575 referida en contrato; auditoría de 08/10/2008 reportó documentación fuera de orden/entregada a Alcaldía para regularizar; transferencia no confirmada. El informe de 2012 recomendó pedir certificado de información rápida actualizado. Plano COM Contorno Bajo, parcela 5: 12,0281 ha (120.281 m²), titular señalado Antonio Pérez Mendoza. Diferencia 67.617,86 m²; cociente 43,78% del área de plano y complemento 56,22%, solo cálculo aritmético, no porcentaje de propiedad ni fracción de polígono. Matriz: cuenta 12102002038, saldo 60.556,86 sin moneda indicada. El mapa es recorte referencial; repetición de tabla/plano no acredita identidad física. Secuencia: 2007 contrato citado; 2008 auditoría refiere expediente incompleto; 2012 Ariel León recomienda certificado registral actualizado.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del plano municipal consignada en la Matriz_Cruces_Terrenos_Arcilla.xlsx: COM Contorno Bajo, parcela 4, 2,2664 ha, titular en plano Alberto Gerardo Bleichner Viscarra. La matriz señala que no se localizó título/folio individual. La ficha sitúa el caso en Departamento La Paz, Provincia Ingavi, Municipio Viacha, Distrito 3, Zona Mamani; el nombre de plano “Contorno Bajo” requiere conciliación espacial con esa referencia. El recorte de mapa es visual y no prueba linderos. Fuentes: ficha del plano municipal y Matriz de Cruces.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comparativo construido a partir de las fuentes individuales. No sumar áreas: el conjunto mezcla superficie registral, sumas nominales de áreas listadas, superficie contractual y superficie planimétrica. La fila Antonio contrasta bases distintas. Los próximos documentos propuestos son requerimientos para verificación, no documentos confirmados como existentes.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de avance por caso y documentos fuente, según la información adicional entregada: lista preliminar de DDRR (INCERPAZ 3.docx), Folio Real doc. 1.293.550, trámite 1.997.596, antecedente WANG 1101644, informe de Ariel León (§ III.1, § IV.1), informe documental Roberto Chávez 14/10/2026, mayores de marzo de 2026 y siete planos 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de avance por caso y documentos fuente, según la información adicional entregada: lista preliminar de DDRR (INCERPAZ 3.docx), Folio Real doc. 1.293.550, trámite 1.997.596, antecedente WANG 1101644, informe de Ariel León (§ III.1, § IV.1), informe documental Roberto Chávez 14/10/2026, mayores de marzo de 2026 y siete planos 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Fotografías de la inspección de terrenos 2022–2026 del informe de Directorio de agosto de 2026. Las leyendas describen lo visible en cada imagen; no identifican predio, titular ni matrícula. La evaluación preliminar del informe indica topografía significativamente modificada, delimitación física insuficiente, posible proximidad a minería/acopio, y riesgo patrimonial y ambiental altos; requiere superposición topográfica y muestreo selectivo.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Fotografías de la inspección de terrenos 2022–2026 del informe de Directorio de agosto de 2026. Las leyendas describen lo visible en cada imagen; no identifican predio, titular ni matrícula. La evaluación preliminar del informe indica topografía significativamente modificada, delimitación física insuficiente, posible proximidad a minería/acopio, y riesgo patrimonial y ambiental altos; requiere superposición topográfica y muestreo selectivo.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clasificación de riesgos es una evaluación documental del informe. No equivale a dictamen legal, valuación, certificación de titularidad ni inspección física. La hoja Seguimiento_INCERPAZ.xlsx tiene vacíos los campos de responsable, fecha/estado/acción para estas filas, por lo que no se atribuye responsabilidad ni plazo.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acciones son recomendaciones y no constituyen tareas ya asignadas. No se inventan responsables, presupuesto ni plazos. La matriz de seguimiento existente requiere completar responsable, fecha, estado y acción. La vinculación documental propuesta prioriza folio/cadena, polígono y asiento contable por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consultadas: Matriz_Cruces_Terrenos_Arcilla.xlsx (tab Cruces); MEMORIA_MAESTRA_CLAUDE_DIRECTORIA_GESTION_PATRIMONIAL.md; Informe_documental_terrenos_Roberto_Chavez.docx (14/10/2026); INCERPAZ.docx; Seguimiento_INCERPAZ.xlsx; Ariel León, INFORME TERRENOS ARCILLA INCERPAZ (09/04/2012); fichas/planos municipales COM Contorno Bajo. La conclusión es limitada a la documentación revisada: falta validar folios vigentes, contrato/testimonios, planos certificados, polígonos y asientos contables.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57200" y="6510528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4" name="Text 2"/>
          <p:cNvSpPr/>
          <p:nvPr/>
        </p:nvSpPr>
        <p:spPr>
          <a:xfrm>
            <a:off x="3886200" y="-9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78040" y="-9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9880" y="-9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1B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aérea en escala de grises de la zona de arcilla, Viach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Etiqueta"/>
          <p:cNvSpPr/>
          <p:nvPr/>
        </p:nvSpPr>
        <p:spPr>
          <a:xfrm>
            <a:off x="731520" y="731520"/>
            <a:ext cx="4206240" cy="86868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" name="Etiqueta barra"/>
          <p:cNvSpPr/>
          <p:nvPr/>
        </p:nvSpPr>
        <p:spPr>
          <a:xfrm>
            <a:off x="731520" y="731520"/>
            <a:ext cx="64008" cy="86868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731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TÉCNICO–DOCUMENTAL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casos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patrimoniales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prioritarios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731520" y="4434840"/>
            <a:ext cx="1005840" cy="64008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663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Terrenos de arcilla · Viacha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 Ingavi · La Paz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486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antecedentes registrales, planimétricos y contables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documental: 28 de octubre de 2026</a:t>
            </a:r>
            <a:endParaRPr lang="en-US" sz="1200" dirty="0"/>
          </a:p>
        </p:txBody>
      </p:sp>
      <p:sp>
        <p:nvSpPr>
          <p:cNvPr id="12" name="Etiqueta"/>
          <p:cNvSpPr/>
          <p:nvPr/>
        </p:nvSpPr>
        <p:spPr>
          <a:xfrm>
            <a:off x="7315200" y="5532120"/>
            <a:ext cx="4206240" cy="8229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3" name="Etiqueta barra"/>
          <p:cNvSpPr/>
          <p:nvPr/>
        </p:nvSpPr>
        <p:spPr>
          <a:xfrm>
            <a:off x="7315200" y="5532120"/>
            <a:ext cx="64008" cy="82296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5532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DOCUMENTALES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INTERNO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 · RESULTADO EJECUTIVO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Cinco casos, cinco brechas de verificación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disponible tiene distinto alcance: un folio revisado, referencias históricas y dos indicios planimétricos.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12745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01952"/>
            <a:ext cx="73152" cy="658368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019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01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Chávez Roberto II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01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9,3250 ha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019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Real revisado; dos gravámenes y cuota ideal.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55480" y="2084832"/>
            <a:ext cx="2011680" cy="292608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5480" y="2084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REGISTRAL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112745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60904"/>
            <a:ext cx="73152" cy="65836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609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60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Martha Quispe Ali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6609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13,3570 ha*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609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identificadores; superficie sumada desde referencias.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55480" y="2843784"/>
            <a:ext cx="2011680" cy="29260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55480" y="2843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DOC. PENDIENTE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112745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19856"/>
            <a:ext cx="73152" cy="65836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4198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4198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Hortencia Quispe de Quispe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341985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18,5512 ha*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4198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identificadores; antecedente testimonial por confirmar.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55480" y="3602736"/>
            <a:ext cx="2011680" cy="29260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55480" y="3602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DOC. PENDIENTE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112745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178808"/>
            <a:ext cx="73152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178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1788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Pérez Mendoza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41788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52.663,14 m² / 120.281 m²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1788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citado frente a superficie de parcela en plano.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555480" y="4361688"/>
            <a:ext cx="2011680" cy="29260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5548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POR CONCILIAR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937760"/>
            <a:ext cx="112745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937760"/>
            <a:ext cx="73152" cy="658368"/>
          </a:xfrm>
          <a:prstGeom prst="rect">
            <a:avLst/>
          </a:prstGeom>
          <a:solidFill>
            <a:srgbClr val="5A6670"/>
          </a:solidFill>
          <a:ln w="12700">
            <a:solidFill>
              <a:srgbClr val="5A667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49377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234440" y="49377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G. Bleichner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023360" y="4937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2,2664 ha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4937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 consignado en plano municipal; sin folio localizado.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555480" y="5120640"/>
            <a:ext cx="2011680" cy="292608"/>
          </a:xfrm>
          <a:prstGeom prst="rect">
            <a:avLst/>
          </a:prstGeom>
          <a:solidFill>
            <a:srgbClr val="5A6670"/>
          </a:solidFill>
          <a:ln w="12700">
            <a:solidFill>
              <a:srgbClr val="5A667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55480" y="5120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INDICIO CARTOGRÁFICO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5760720"/>
            <a:ext cx="11274552" cy="566928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760720"/>
            <a:ext cx="73152" cy="566928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5760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CENTRAL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560320" y="576072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cinco casos documentales priorizados, no cinco polígonos independientes ya acreditados. No se consolida un área total porque las bases y niveles de respaldo difieren.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Matriz_Cruces_Terrenos_Arcilla.xlsx, pestaña Cruces; informes y planos citados en las fichas.  * Suma nominal de superficies listadas.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 · CÓMO SE LEYÓ EL EXPEDIENTE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Alcance y criterio de evidencia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transcribieron las bases disponibles y se evitó completar datos ausentes por inferencia.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RESPALDO</a:t>
            </a:r>
            <a:endParaRPr lang="en-US" sz="1200" dirty="0"/>
          </a:p>
        </p:txBody>
      </p:sp>
      <p:sp>
        <p:nvSpPr>
          <p:cNvPr id="6" name="Tarjeta REGISTRO REVISADO"/>
          <p:cNvSpPr/>
          <p:nvPr/>
        </p:nvSpPr>
        <p:spPr>
          <a:xfrm>
            <a:off x="457200" y="2240280"/>
            <a:ext cx="5577840" cy="1097280"/>
          </a:xfrm>
          <a:prstGeom prst="rect">
            <a:avLst/>
          </a:prstGeom>
          <a:solidFill>
            <a:srgbClr val="E6F0EA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73152" cy="10972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36829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REVISADO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974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Real consultado para Chávez Roberto II; titularidad inscrita y gravámenes consignados.</a:t>
            </a:r>
            <a:endParaRPr lang="en-US" sz="1300" dirty="0"/>
          </a:p>
        </p:txBody>
      </p:sp>
      <p:sp>
        <p:nvSpPr>
          <p:cNvPr id="10" name="Tarjeta REFERENCIA DOCUMENTAL"/>
          <p:cNvSpPr/>
          <p:nvPr/>
        </p:nvSpPr>
        <p:spPr>
          <a:xfrm>
            <a:off x="457200" y="3474720"/>
            <a:ext cx="5577840" cy="1097280"/>
          </a:xfrm>
          <a:prstGeom prst="rect">
            <a:avLst/>
          </a:prstGeom>
          <a:solidFill>
            <a:srgbClr val="FBF1DC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474720"/>
            <a:ext cx="73152" cy="109728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60273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DOCUMENTAL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9319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Testimonios, informes o listados históricos requieren cotejo con certificaciones actuales.</a:t>
            </a:r>
            <a:endParaRPr lang="en-US" sz="1300" dirty="0"/>
          </a:p>
        </p:txBody>
      </p:sp>
      <p:sp>
        <p:nvSpPr>
          <p:cNvPr id="14" name="Tarjeta INDICIO / TRANSFERENCIA PENDIENTE"/>
          <p:cNvSpPr/>
          <p:nvPr/>
        </p:nvSpPr>
        <p:spPr>
          <a:xfrm>
            <a:off x="457200" y="4709160"/>
            <a:ext cx="5577840" cy="1097280"/>
          </a:xfrm>
          <a:prstGeom prst="rect">
            <a:avLst/>
          </a:prstGeom>
          <a:solidFill>
            <a:srgbClr val="FBEAEA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709160"/>
            <a:ext cx="73152" cy="109728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8371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INDICIO / TRANSFERENCIA PENDIENTE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663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o copia contractual no acredita por sí sola dominio, vigencia ni polígono.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901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NECESARIO PARA CERRAR CADA CASO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959352"/>
            <a:ext cx="68580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9601200" y="3959352"/>
            <a:ext cx="68580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9052560" y="3364992"/>
            <a:ext cx="0" cy="9144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9052560" y="4462272"/>
            <a:ext cx="0" cy="9144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7776972" y="3918204"/>
            <a:ext cx="82296" cy="82296"/>
          </a:xfrm>
          <a:prstGeom prst="ellipse">
            <a:avLst/>
          </a:prstGeom>
          <a:solidFill>
            <a:srgbClr val="3A444C"/>
          </a:solidFill>
          <a:ln w="12700">
            <a:solidFill>
              <a:srgbClr val="3A44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5852" y="3918204"/>
            <a:ext cx="82296" cy="82296"/>
          </a:xfrm>
          <a:prstGeom prst="ellipse">
            <a:avLst/>
          </a:prstGeom>
          <a:solidFill>
            <a:srgbClr val="3A444C"/>
          </a:solidFill>
          <a:ln w="12700">
            <a:solidFill>
              <a:srgbClr val="3A44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549640" y="3456432"/>
            <a:ext cx="1005840" cy="1005840"/>
          </a:xfrm>
          <a:prstGeom prst="ellipse">
            <a:avLst/>
          </a:prstGeom>
          <a:solidFill>
            <a:srgbClr val="E7EAE8"/>
          </a:solidFill>
          <a:ln w="38100">
            <a:solidFill>
              <a:srgbClr val="1B21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0" y="36850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CASO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2084832"/>
            <a:ext cx="1280160" cy="1280160"/>
          </a:xfrm>
          <a:prstGeom prst="ellipse">
            <a:avLst/>
          </a:prstGeom>
          <a:ln w="15875">
            <a:solidFill>
              <a:srgbClr val="3A444C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8577072" y="2286000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o testimonio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original, alcance y partes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287000" y="3319272"/>
            <a:ext cx="1280160" cy="1280160"/>
          </a:xfrm>
          <a:prstGeom prst="ellipse">
            <a:avLst/>
          </a:prstGeom>
          <a:ln w="15875">
            <a:solidFill>
              <a:srgbClr val="3A444C"/>
            </a:solidFill>
            <a:prstDash val="sysDot"/>
          </a:ln>
        </p:spPr>
      </p:sp>
      <p:sp>
        <p:nvSpPr>
          <p:cNvPr id="34" name="Text 32"/>
          <p:cNvSpPr txBox="1"/>
          <p:nvPr/>
        </p:nvSpPr>
        <p:spPr>
          <a:xfrm>
            <a:off x="10451592" y="3520440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Real actual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titular, gravámenes y tradición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0" y="4553712"/>
            <a:ext cx="1280160" cy="1280160"/>
          </a:xfrm>
          <a:prstGeom prst="ellipse">
            <a:avLst/>
          </a:prstGeom>
          <a:ln w="22225">
            <a:solidFill>
              <a:srgbClr val="1B21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77072" y="4754880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y polígono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física y superficie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3319272"/>
            <a:ext cx="1280160" cy="1280160"/>
          </a:xfrm>
          <a:prstGeom prst="ellipse">
            <a:avLst/>
          </a:prstGeom>
          <a:ln w="15875">
            <a:solidFill>
              <a:srgbClr val="3A444C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702552" y="3520440"/>
            <a:ext cx="9509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Contabilidad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cuenta, moneda, comprobante y saldo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DEL INFORME   </a:t>
            </a:r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documental preliminar; no sustituye certificaciones de Derechos Reales, levantamiento catastral ni peritaje de linderos.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marco: Matriz de Cruces; memoria maestra de inventario; Ariel León (09/04/2012); documentos de folio y seguimiento.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CONTEXTO · INFORME DE DIRECTORIO (AGO. 2026)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El universo de Viacha: 50 terrenos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casos son parte de un universo aún no conciliado entre documentos, contabilidad, Derechos Reales y ubicación física.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697480" cy="1188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01952"/>
            <a:ext cx="73152" cy="1188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terrenos identificados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01952"/>
            <a:ext cx="2697480" cy="1188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901952"/>
            <a:ext cx="73152" cy="1188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 propietario del Grupo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901952"/>
            <a:ext cx="2697480" cy="1188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901952"/>
            <a:ext cx="73152" cy="1188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216.311 m²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identificada en 10 predios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901952"/>
            <a:ext cx="2697480" cy="1188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0" y="1901952"/>
            <a:ext cx="73152" cy="1188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669.828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identificadas en 40 predios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5577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DOCUMENTAL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94360" y="365760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153912" y="3291840"/>
            <a:ext cx="5577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82512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TITULARIDAD / REGISTRO CONSIGNADO</a:t>
            </a:r>
            <a:endParaRPr lang="en-US" sz="12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291072" y="365760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457200" y="60167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del informe de la Directoria de Gestión Patrimonial y Contingencias (ago. 2026); su base no es comparable con las fichas de los cinco casos.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Informe terrenos Viacha, Directoria de Gestión Patrimonial y Contingencias · Ago.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CONTEXTO · INFORME DE DIRECTORIO (AGO. 2026)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Riesgo del entorno y estrategia por predio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minero-ambiental de Viacha está documentado; la responsabilidad se prueba caso por caso.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MINERO-AMBIENTAL DOCUMENTADO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669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1325880" cy="621792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2402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AJAM georreferencia 33 operadores y requiere descargos/licencias.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5669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53512"/>
            <a:ext cx="1325880" cy="621792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5351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95351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Defensoría acompaña inspecciones a Goldmins, Rupaibmin y Minglab.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5669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66744"/>
            <a:ext cx="1325880" cy="621792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6674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6667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AJAM emite resoluciones de suspensión por actividades sin licencia.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79976"/>
            <a:ext cx="5669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379976"/>
            <a:ext cx="1325880" cy="621792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37997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437997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Defensoría: 23 empresas verificadas; 6 con licencia ambiental vigente; cianuro en 3 pozos SARH.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93208"/>
            <a:ext cx="5669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5093208"/>
            <a:ext cx="1325880" cy="621792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50932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JUL–AGO 2026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509320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Muestreos de aguas, suelos y sedimentos bajo Resolución Constitucional N.º 266/2025.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SELECTIVA POR PREDIO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240280"/>
            <a:ext cx="5239512" cy="621792"/>
          </a:xfrm>
          <a:prstGeom prst="rect">
            <a:avLst/>
          </a:prstGeom>
          <a:solidFill>
            <a:srgbClr val="F4F5F7"/>
          </a:solidFill>
          <a:ln w="6350">
            <a:solidFill>
              <a:srgbClr val="E1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22402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y en posesión nuestra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22402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Controlar, documentar y avaluar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953512"/>
            <a:ext cx="52395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29535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sin toma de terceros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2953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Hitos, señalización, cerramiento y vigilancia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666744"/>
            <a:ext cx="5239512" cy="621792"/>
          </a:xfrm>
          <a:prstGeom prst="rect">
            <a:avLst/>
          </a:prstGeom>
          <a:solidFill>
            <a:srgbClr val="F4F5F7"/>
          </a:solidFill>
          <a:ln w="6350">
            <a:solidFill>
              <a:srgbClr val="E1E4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36667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Ocupado sin autorización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36667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 / medidas precautorias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4379976"/>
            <a:ext cx="52395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0" y="437997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avasallamiento con actividad minera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437997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legal y técnica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093208"/>
            <a:ext cx="5239512" cy="621792"/>
          </a:xfrm>
          <a:prstGeom prst="rect">
            <a:avLst/>
          </a:prstGeom>
          <a:solidFill>
            <a:srgbClr val="F4F5F7"/>
          </a:solidFill>
          <a:ln w="6350">
            <a:solidFill>
              <a:srgbClr val="E1E4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0" y="50932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avasallamiento con pasivo ambiental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50932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máxima: legal + pericial + ambiental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852160"/>
            <a:ext cx="73152" cy="50292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5852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regional no prueba por sí sola responsabilidad ni superposición sobre predios del Grupo; cada caso exige mensura, verificación registral y evidencia específica.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Informe terrenos Viacha, Directoria de Gestión Patrimonial y Contingencias · Ago.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pic>
        <p:nvPicPr>
          <p:cNvPr id="3" name="Image 0" descr="Mapa referencial de la zona Mamani y la ciudad de Viach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23360" cy="2651760"/>
          </a:xfrm>
          <a:prstGeom prst="rect">
            <a:avLst/>
          </a:prstGeom>
        </p:spPr>
      </p:pic>
      <p:sp>
        <p:nvSpPr>
          <p:cNvPr id="4" name="Etiqueta"/>
          <p:cNvSpPr/>
          <p:nvPr/>
        </p:nvSpPr>
        <p:spPr>
          <a:xfrm>
            <a:off x="274320" y="274320"/>
            <a:ext cx="2286000" cy="7315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5" name="Etiqueta barra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4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PATRIMONIAL 03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2130552"/>
            <a:ext cx="50292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34440" y="201168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0" y="2286000"/>
            <a:ext cx="4023360" cy="3657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REFERENCIAL · NO DELIMITA EL PREDIO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EN FOLIO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08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9,3250</a:t>
            </a:r>
            <a:pPr indent="0" marL="0">
              <a:buNone/>
            </a:pPr>
            <a:r>
              <a:rPr lang="en-US" sz="16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2.08.1.01.0019611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contable relacionada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12102002030 · saldo 10.000,00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029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no indicada en la matriz.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5394960"/>
            <a:ext cx="3108960" cy="1051560"/>
          </a:xfrm>
          <a:prstGeom prst="rect">
            <a:avLst/>
          </a:prstGeom>
          <a:solidFill>
            <a:srgbClr val="2B343B"/>
          </a:solidFill>
          <a:ln w="12700">
            <a:solidFill>
              <a:srgbClr val="2B34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5394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Real doc. 1.293.550 · trámite 1.997.596 · antecedente WANG 1101644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confundir con “Roberto Chávez” (cuenta 12102002026; caso separado).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411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Ficha patrimonial · 03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6858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Chávez Roberto II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1463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con mayor respaldo registral disponible; siguen abiertas la carga, la cuota y la localización física.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20116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TITULARIDAD CONSIGNADA EN FOLIO REVISADO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720840" y="224028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4480560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INCERPAZ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480560" y="3310128"/>
            <a:ext cx="1371600" cy="45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8056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19,572%</a:t>
            </a:r>
            <a:endParaRPr lang="en-US" sz="2800" dirty="0"/>
          </a:p>
        </p:txBody>
      </p:sp>
      <p:sp>
        <p:nvSpPr>
          <p:cNvPr id="30" name="Text 26"/>
          <p:cNvSpPr txBox="1"/>
          <p:nvPr/>
        </p:nvSpPr>
        <p:spPr>
          <a:xfrm>
            <a:off x="914400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CHÁVEZ FLORES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9144000" y="3310128"/>
            <a:ext cx="1371600" cy="45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4400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80,42%</a:t>
            </a:r>
            <a:endParaRPr lang="en-US" sz="2800" dirty="0"/>
          </a:p>
        </p:txBody>
      </p:sp>
      <p:sp>
        <p:nvSpPr>
          <p:cNvPr id="33" name="Text 29"/>
          <p:cNvSpPr txBox="1"/>
          <p:nvPr/>
        </p:nvSpPr>
        <p:spPr>
          <a:xfrm>
            <a:off x="4480560" y="45720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cuotas suman 99,992%; el 0,008% restante requiere aclaración documental.</a:t>
            </a:r>
            <a:endParaRPr lang="en-US" sz="1200" dirty="0"/>
          </a:p>
        </p:txBody>
      </p:sp>
      <p:sp>
        <p:nvSpPr>
          <p:cNvPr id="34" name="Tarjeta DOS GRAVÁMENES"/>
          <p:cNvSpPr/>
          <p:nvPr/>
        </p:nvSpPr>
        <p:spPr>
          <a:xfrm>
            <a:off x="4480560" y="4937760"/>
            <a:ext cx="3520440" cy="1417320"/>
          </a:xfrm>
          <a:prstGeom prst="rect">
            <a:avLst/>
          </a:prstGeom>
          <a:solidFill>
            <a:srgbClr val="FBEAEA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480560" y="4937760"/>
            <a:ext cx="73152" cy="141732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736592" y="5065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GRAVÁMENES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4736592" y="5394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folio registra dos gravámenes; los documentos no detallan ambos asientos ni su estado actual.</a:t>
            </a:r>
            <a:endParaRPr lang="en-US" sz="1200" dirty="0"/>
          </a:p>
        </p:txBody>
      </p:sp>
      <p:sp>
        <p:nvSpPr>
          <p:cNvPr id="38" name="Tarjeta LECTURA DE LA CUOTA"/>
          <p:cNvSpPr/>
          <p:nvPr/>
        </p:nvSpPr>
        <p:spPr>
          <a:xfrm>
            <a:off x="8183880" y="4937760"/>
            <a:ext cx="3520440" cy="1417320"/>
          </a:xfrm>
          <a:prstGeom prst="rect">
            <a:avLst/>
          </a:prstGeom>
          <a:solidFill>
            <a:srgbClr val="F9FAFB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183880" y="493776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439912" y="5065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LA CUOTA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8439912" y="5394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participación de INCERPAZ es ideal: no identifica una fracción deslindada en terreno.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4480560" y="655624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Informe Roberto Chávez (14/10/2026, pp. 1–2); Folio Real; lista preliminar DDRR (INCERPAZ 3.docx).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pic>
        <p:nvPicPr>
          <p:cNvPr id="3" name="Image 0" descr="Mapa referencial de la zona Mamani y la ciudad de Viach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23360" cy="2651760"/>
          </a:xfrm>
          <a:prstGeom prst="rect">
            <a:avLst/>
          </a:prstGeom>
        </p:spPr>
      </p:pic>
      <p:sp>
        <p:nvSpPr>
          <p:cNvPr id="4" name="Etiqueta"/>
          <p:cNvSpPr/>
          <p:nvPr/>
        </p:nvSpPr>
        <p:spPr>
          <a:xfrm>
            <a:off x="274320" y="274320"/>
            <a:ext cx="2286000" cy="7315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5" name="Etiqueta barra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4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PATRIMONIAL 04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2130552"/>
            <a:ext cx="50292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34440" y="201168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0" y="2286000"/>
            <a:ext cx="4023360" cy="3657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REFERENCIAL · NO DELIMITA EL PREDIO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NOMINAL*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08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13,3570</a:t>
            </a:r>
            <a:pPr indent="0" marL="0">
              <a:buNone/>
            </a:pPr>
            <a:r>
              <a:rPr lang="en-US" sz="16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Testimonio citado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914/93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57200" y="4754880"/>
            <a:ext cx="3108960" cy="1600200"/>
          </a:xfrm>
          <a:prstGeom prst="rect">
            <a:avLst/>
          </a:prstGeom>
          <a:solidFill>
            <a:srgbClr val="2B343B"/>
          </a:solidFill>
          <a:ln w="12700">
            <a:solidFill>
              <a:srgbClr val="2B34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5488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antecedente documental indica inscripción a favor de INCERPAZ; la carpeta revisada no incluye certificados actuales de cada folio.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411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Ficha patrimonial · 04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6858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Martha Quispe Ali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1463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referencias registrales suman una superficie nominal; falta cotejo individual de vigencia y ubicación.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2103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 Y SUPERFICIES LISTADAS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80560" y="2423160"/>
            <a:ext cx="722376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2.08.0.10.0002628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360920" y="262432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60920" y="2624328"/>
            <a:ext cx="1705446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33272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3,2504 ha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80560" y="3063240"/>
            <a:ext cx="7223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2.08.0.10.0002626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360920" y="326440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60920" y="3264408"/>
            <a:ext cx="1454173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3272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2,7715 ha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480560" y="3703320"/>
            <a:ext cx="722376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2.08.0.10.0002627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360920" y="390448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60920" y="3904488"/>
            <a:ext cx="2926080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33272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5,5768 ha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480560" y="4343400"/>
            <a:ext cx="7223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6344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01209179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360920" y="454456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60920" y="4544568"/>
            <a:ext cx="922559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332720" y="4343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1,7583 ha</a:t>
            </a:r>
            <a:endParaRPr lang="en-US" sz="1400" dirty="0"/>
          </a:p>
        </p:txBody>
      </p:sp>
      <p:sp>
        <p:nvSpPr>
          <p:cNvPr id="43" name="Tarjeta * CÁLCULO ARITMÉTICO"/>
          <p:cNvSpPr/>
          <p:nvPr/>
        </p:nvSpPr>
        <p:spPr>
          <a:xfrm>
            <a:off x="4480560" y="5074920"/>
            <a:ext cx="7223760" cy="1280160"/>
          </a:xfrm>
          <a:prstGeom prst="rect">
            <a:avLst/>
          </a:prstGeom>
          <a:solidFill>
            <a:srgbClr val="FBF1DC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480560" y="5074920"/>
            <a:ext cx="73152" cy="1280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36592" y="520293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CÁLCULO ARITMÉTICO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736592" y="553212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total reproduce la suma de áreas anotadas. El identificador 01209179 se conserva tal como aparece en la fuente; no se completa su formato por inferencia.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4480560" y="65562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Ariel León § IV.1 (Test. 914/93); lista preliminar DDRR (INCERPAZ 3.docx); Matriz de Cruces.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pic>
        <p:nvPicPr>
          <p:cNvPr id="3" name="Image 0" descr="Mapa referencial de la zona Mamani y la ciudad de Viach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23360" cy="2651760"/>
          </a:xfrm>
          <a:prstGeom prst="rect">
            <a:avLst/>
          </a:prstGeom>
        </p:spPr>
      </p:pic>
      <p:sp>
        <p:nvSpPr>
          <p:cNvPr id="4" name="Etiqueta"/>
          <p:cNvSpPr/>
          <p:nvPr/>
        </p:nvSpPr>
        <p:spPr>
          <a:xfrm>
            <a:off x="274320" y="274320"/>
            <a:ext cx="2286000" cy="7315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5" name="Etiqueta barra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4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PATRIMONIAL 05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2130552"/>
            <a:ext cx="50292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34440" y="201168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0" y="2286000"/>
            <a:ext cx="4023360" cy="3657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REFERENCIAL · NO DELIMITA EL PREDIO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NOMINAL*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08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18,5512</a:t>
            </a:r>
            <a:pPr indent="0" marL="0">
              <a:buNone/>
            </a:pPr>
            <a:r>
              <a:rPr lang="en-US" sz="16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Testimonio citado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718/96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57200" y="4754880"/>
            <a:ext cx="3108960" cy="1600200"/>
          </a:xfrm>
          <a:prstGeom prst="rect">
            <a:avLst/>
          </a:prstGeom>
          <a:solidFill>
            <a:srgbClr val="2B343B"/>
          </a:solidFill>
          <a:ln w="12700">
            <a:solidFill>
              <a:srgbClr val="2B34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5488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Fotocopia del testimonio citada en el informe. Otro informe menciona Quispe-Limachi: verificar si se trata de la misma cadena o referencia duplicada.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411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Ficha patrimonial · 05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6858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Hortencia Quispe de Quispe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1463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suma de cuatro referencias es nominal y existe una posible colisión documental que debe resolverse.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2103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 Y SUPERFICIES LISTADAS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80560" y="2423160"/>
            <a:ext cx="722376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2.08.0.10.0002686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360920" y="262432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60920" y="2624328"/>
            <a:ext cx="2255128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33272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5,2759 ha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80560" y="3063240"/>
            <a:ext cx="7223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2.08.0.10.0002689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360920" y="326440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60920" y="3264408"/>
            <a:ext cx="511089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3272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1,1957 ha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480560" y="3703320"/>
            <a:ext cx="722376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6344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2.08.0.10.0002688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360920" y="390448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60920" y="3904488"/>
            <a:ext cx="2237218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33272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5,2340 ha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480560" y="4343400"/>
            <a:ext cx="7223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6344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2.08.0.10.0002687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360920" y="4544568"/>
            <a:ext cx="2926080" cy="146304"/>
          </a:xfrm>
          <a:prstGeom prst="rect">
            <a:avLst/>
          </a:prstGeom>
          <a:solidFill>
            <a:srgbClr val="E2E5E8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60920" y="4544568"/>
            <a:ext cx="2926080" cy="146304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332720" y="4343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6,8456 ha</a:t>
            </a:r>
            <a:endParaRPr lang="en-US" sz="1400" dirty="0"/>
          </a:p>
        </p:txBody>
      </p:sp>
      <p:sp>
        <p:nvSpPr>
          <p:cNvPr id="43" name="Tarjeta PUNTO DE CONTROL"/>
          <p:cNvSpPr/>
          <p:nvPr/>
        </p:nvSpPr>
        <p:spPr>
          <a:xfrm>
            <a:off x="4480560" y="5074920"/>
            <a:ext cx="7223760" cy="1280160"/>
          </a:xfrm>
          <a:prstGeom prst="rect">
            <a:avLst/>
          </a:prstGeom>
          <a:solidFill>
            <a:srgbClr val="FBEAEA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480560" y="5074920"/>
            <a:ext cx="73152" cy="128016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36592" y="520293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CONTROL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736592" y="553212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consolidar titularidad o superficie, cotejar testimonio 718/96, cadena registral y las referencias “Hortencia Quispe” / “Quispe-Limachi”.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4480560" y="65562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Ariel León § IV.1 (Test. 718/96) y § III.1 (Quispe-Limachi); lista preliminar DDRR (INCERPAZ 3.docx).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aérea con la parcela 5 del plano COM Contorno Bajo resaltad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021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09360"/>
            <a:ext cx="6300216" cy="54864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65760" y="6309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ILUSTRATIVO · NO ACREDITA LINDEROS NI EQUIVALENCIA DE MATRÍCULA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10528" y="320040"/>
            <a:ext cx="0" cy="621792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6" name="Text 3"/>
          <p:cNvSpPr txBox="1"/>
          <p:nvPr/>
        </p:nvSpPr>
        <p:spPr>
          <a:xfrm>
            <a:off x="676656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640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Pérez Mendoza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766560" y="1280160"/>
            <a:ext cx="4965192" cy="18288"/>
          </a:xfrm>
          <a:prstGeom prst="rect">
            <a:avLst/>
          </a:prstGeom>
          <a:solidFill>
            <a:srgbClr val="DADDE1"/>
          </a:solidFill>
          <a:ln w="12700">
            <a:solidFill>
              <a:srgbClr val="DADD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1280160"/>
            <a:ext cx="731520" cy="64008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8503920" y="150876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76656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/ PLANO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766560" y="2432304"/>
            <a:ext cx="1280160" cy="457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43,8%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1046988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469880" y="2432304"/>
            <a:ext cx="1280160" cy="457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4698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56,2%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36118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Proporción aritmética sobre el área del plano; no es cuota de propiedad ni división física. Diferencia: 67.617,86 m².</a:t>
            </a:r>
            <a:endParaRPr lang="en-US" sz="1100" dirty="0"/>
          </a:p>
        </p:txBody>
      </p:sp>
      <p:sp>
        <p:nvSpPr>
          <p:cNvPr id="18" name="Tarjeta COMPRA CITADA · 52.663,14 m²"/>
          <p:cNvSpPr/>
          <p:nvPr/>
        </p:nvSpPr>
        <p:spPr>
          <a:xfrm>
            <a:off x="6766560" y="4160520"/>
            <a:ext cx="4965192" cy="960120"/>
          </a:xfrm>
          <a:prstGeom prst="rect">
            <a:avLst/>
          </a:prstGeom>
          <a:solidFill>
            <a:srgbClr val="F9FAFB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66560" y="4160520"/>
            <a:ext cx="73152" cy="9601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22592" y="428853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CITADA · 52.663,14 m²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022592" y="461772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19/03/2007; solo fotocopia de contrato privado. Matrícula referida: 2.08.1.01.0000575.</a:t>
            </a:r>
            <a:endParaRPr lang="en-US" sz="1200" dirty="0"/>
          </a:p>
        </p:txBody>
      </p:sp>
      <p:sp>
        <p:nvSpPr>
          <p:cNvPr id="22" name="Tarjeta PARCELA 5 EN PLANO · 120.281 m²"/>
          <p:cNvSpPr/>
          <p:nvPr/>
        </p:nvSpPr>
        <p:spPr>
          <a:xfrm>
            <a:off x="6766560" y="5212080"/>
            <a:ext cx="4965192" cy="960120"/>
          </a:xfrm>
          <a:prstGeom prst="rect">
            <a:avLst/>
          </a:prstGeom>
          <a:solidFill>
            <a:srgbClr val="F9FAFB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766560" y="5212080"/>
            <a:ext cx="73152" cy="9601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022592" y="534009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5 EN PLANO · 120.281 m²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022592" y="566928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COM Contorno Bajo, a nombre de Antonio Pérez Mendoza. Alcaldía: no basta para afirmar identidad del predio.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766560" y="65562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Ariel León (09/04/2012), pp. 1–2; informe municipal citado; matriz de cruces; plano COM Contorno Bajo.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aérea con la parcela 4 marcada con triángulo roj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365760"/>
            <a:ext cx="3520440" cy="9144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0" y="365760"/>
            <a:ext cx="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0" y="3657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0" y="12801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50040" y="365760"/>
            <a:ext cx="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567160" y="3657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67160" y="12801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365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indicio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CARTOGRÁFICO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"/>
            <a:ext cx="4572000" cy="3657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N.º 4 · COM CONTORNO BAJO</a:t>
            </a:r>
            <a:endParaRPr lang="en-US" sz="1200" dirty="0"/>
          </a:p>
        </p:txBody>
      </p:sp>
      <p:sp>
        <p:nvSpPr>
          <p:cNvPr id="13" name="Panel de datos"/>
          <p:cNvSpPr/>
          <p:nvPr/>
        </p:nvSpPr>
        <p:spPr>
          <a:xfrm>
            <a:off x="365760" y="914400"/>
            <a:ext cx="47548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914400"/>
            <a:ext cx="4754880" cy="9144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1143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4 · Alberto Gerardo Bleichner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1965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EN PLANO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194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2,2664</a:t>
            </a:r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hectáreas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2971800"/>
            <a:ext cx="4206240" cy="18288"/>
          </a:xfrm>
          <a:prstGeom prst="rect">
            <a:avLst/>
          </a:prstGeom>
          <a:solidFill>
            <a:srgbClr val="DADDE1"/>
          </a:solidFill>
          <a:ln w="12700">
            <a:solidFill>
              <a:srgbClr val="DADD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108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 CONSIGNADO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Gerardo Bleichner Viscarra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3840480"/>
            <a:ext cx="4206240" cy="731520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40480"/>
            <a:ext cx="64008" cy="73152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38404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/ TÍTULO 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localizado para esta identificación individual.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709160"/>
            <a:ext cx="4206240" cy="1005840"/>
          </a:xfrm>
          <a:prstGeom prst="rect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4709160"/>
            <a:ext cx="64008" cy="100584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4709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POR RECONCILIAR 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Distrito 3 / Mamani; tabla repetida en plano COM Mamani. Comprobar que describan el mismo polígono que COM Contorno Bajo.</a:t>
            </a:r>
            <a:endParaRPr lang="en-US" sz="1400" dirty="0"/>
          </a:p>
        </p:txBody>
      </p:sp>
      <p:sp>
        <p:nvSpPr>
          <p:cNvPr id="27" name="Datos de ubicación"/>
          <p:cNvSpPr/>
          <p:nvPr/>
        </p:nvSpPr>
        <p:spPr>
          <a:xfrm>
            <a:off x="8229600" y="420624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229600" y="4206240"/>
            <a:ext cx="3520440" cy="73152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UBICACIÓN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149840" y="4663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PAZ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9926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149840" y="4992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INGAVI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53218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MUNICIPIO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149840" y="5321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VIACHA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412480" y="5650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DISTRITO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149840" y="5650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59801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1498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MAMANI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6309360"/>
            <a:ext cx="6583680" cy="54864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65760" y="6309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INDICIO CARTOGRÁFICO · NO ES PLANO CERTIFICADO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08 · SÍNTESIS DE LOS CINCO CASOS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Matriz comparativa de verificación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responde a la brecha que bloquea la confirmación de identidad, dominio o superficie.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468880"/>
                <a:gridCol w="2560320"/>
                <a:gridCol w="2221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/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RESPALDO DISPONIBLE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BRECHA PRINCIPAL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PRÓXIMO DOCUMENTO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Chávez Roberto II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9,3250 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Folio revisado; dos gravámenes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Cuota 99,992%; falta vincular polígono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Folio certificado + asientos + plano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Martha Quispe Ali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13,3570 ha*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Test. 914/93 citado; 4 IDs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Vigencia, identificación plena y geometría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folios actuales + testimonio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Hortencia Quispe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18,5512 ha*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Test. 718/96 citado; 4 IDs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Posible colisión con Quispe-Limachi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Folios + cadena y testimonio original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Antonio Pérez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52.663,14 vs 120.281 m²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 en copia; parcela 5 en plano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Transferencia no confirmada; delta 67.617,86 m²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actual + contrato + polígono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Bleichner · parcela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2,2664 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Titular consignado en ficha municipal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folio individual localizado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Título/folio + plano certificado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035040"/>
            <a:ext cx="11274552" cy="310896"/>
          </a:xfrm>
          <a:prstGeom prst="rect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60350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Superficie nominal sumada desde referencias; no es un área total certificada ni georreferenciada.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562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de síntesis: Matriz de Cruces y fichas 03–07 de este informe.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09 · NIVEL DE AVANCE Y FUENTES (1/2)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Hallazgo y documentos fuente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permite afirmar cada caso con el respaldo documental disponible hoy.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13716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2286000" cy="292608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REGISTRAL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Chávez Roberto II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84248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matrícula 2.08.1.01.0019611 registra 9,3250 ha. En el folio revisado constan Roberto Chávez Flores (80,42 %) e INCERPAZ Ltda. (19,572 %), además de dos gravámenes. Los porcentajes suman 99,992 %; falta aclarar la diferencia y verificar el estado actual del folio.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724912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27706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preliminar de DDRR, INCERPAZ 3.docx; Folio Real, documento 1.293.550, trámite 1.997.596, antecedente WANG 1101644; informe documental de terrenos de Roberto Chávez, 14/10/2026, pp. 1–2; mayor, cuenta 12102002030.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55848"/>
            <a:ext cx="73152" cy="137160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38728"/>
            <a:ext cx="2286000" cy="29260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DOCUMENTAL PENDIENTE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502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Martha Quispe Ali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465576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informe cita el Testimonio 914/93. La lista preliminar registra cuatro matrículas con una suma nominal de 13,3570 ha. Falta comprobar los folios y su relación con ese testimonio.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4206240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425196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Ariel León, § IV.1, Test. 914/93; lista preliminar de DDRR, INCERPAZ 3.docx, matrículas 2.08.0.10.0002628, 0002626, 0002627 y 01209179.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37176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837176"/>
            <a:ext cx="73152" cy="137160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020056"/>
            <a:ext cx="2286000" cy="292608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020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DOCUMENTAL PENDIENTE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43153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Hortencia Quispe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946904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informe cita una fotocopia del Testimonio 718/96. La lista preliminar registra cuatro matrículas, con una suma nominal de 18,5512 ha. Falta cotejar los folios y descartar una posible colisión con el registro “Quispe-Limachi”.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5687568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83280" y="573328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Ariel León, § IV.1, Test. 718/96; lista preliminar de DDRR, INCERPAZ 3.docx, matrículas 2.08.0.10.0002686, 0002689, 0002688 y 0002687; referencia adicional al Test. 718/96 en § III.1 para Quispe-Limachi.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DDRR: Derechos Reales · COM: planos municipales Contorno Bajo / Mamani · Matriz de cruces e informe de Ariel León.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09 · NIVEL DE AVANCE Y FUENTES (2/2)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Hallazgo y documentos fuente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permite afirmar cada caso con el respaldo documental disponible hoy.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137160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2286000" cy="29260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POR CONCILIAR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Pérez Mendoza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84248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informe cita una compra de 52.663,14 m²; el plano muestra una parcela homónima de 120.281 m². La diferencia impide concluir que sea el mismo predio sin revisar contrato, matrícula y polígono.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724912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27706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Ariel León: contrato de 19/03/2007 y referencia a auditoría de 08/10/2008; mayor, cuenta 12102002038; plano COM Contorno Bajo, parcela 5. El informe refiere la matrícula 2.08.1.01.0000575.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55848"/>
            <a:ext cx="73152" cy="1371600"/>
          </a:xfrm>
          <a:prstGeom prst="rect">
            <a:avLst/>
          </a:prstGeom>
          <a:solidFill>
            <a:srgbClr val="5A6670"/>
          </a:solidFill>
          <a:ln w="12700">
            <a:solidFill>
              <a:srgbClr val="5A66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38728"/>
            <a:ext cx="2286000" cy="292608"/>
          </a:xfrm>
          <a:prstGeom prst="rect">
            <a:avLst/>
          </a:prstGeom>
          <a:solidFill>
            <a:srgbClr val="5A6670"/>
          </a:solidFill>
          <a:ln w="12700">
            <a:solidFill>
              <a:srgbClr val="5A66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INDICIO CARTOGRÁFICO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502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4 / Alberto Gerardo Bleichner Viscarra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465576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plano identifica una parcela de 2,2664 ha a nombre de Bleichner. La lista preliminar revisada no muestra una entrada individual a ese nombre que vincule la parcela con un folio.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4206240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425196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municipal COM Contorno Bajo, parcela 4; tabla repetida en COM Mamani; lista preliminar de DDRR, INCERPAZ 3.docx.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37176"/>
            <a:ext cx="112745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837176"/>
            <a:ext cx="73152" cy="1371600"/>
          </a:xfrm>
          <a:prstGeom prst="rect">
            <a:avLst/>
          </a:prstGeom>
          <a:solidFill>
            <a:srgbClr val="8A939B"/>
          </a:solidFill>
          <a:ln w="12700">
            <a:solidFill>
              <a:srgbClr val="8A93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020056"/>
            <a:ext cx="2286000" cy="292608"/>
          </a:xfrm>
          <a:prstGeom prst="rect">
            <a:avLst/>
          </a:prstGeom>
          <a:solidFill>
            <a:srgbClr val="8A939B"/>
          </a:solidFill>
          <a:ln w="12700">
            <a:solidFill>
              <a:srgbClr val="8A939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020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DE IDENTIFICAR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43153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nombres y registros genéricos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946904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nombres, cuentas contables y referencias zonales que todavía no se pueden asociar con seguridad a una matrícula o polígono específico.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5687568"/>
            <a:ext cx="8183880" cy="13716"/>
          </a:xfrm>
          <a:prstGeom prst="rect">
            <a:avLst/>
          </a:prstGeom>
          <a:solidFill>
            <a:srgbClr val="E1E4E7"/>
          </a:solidFill>
          <a:ln w="12700">
            <a:solidFill>
              <a:srgbClr val="E1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83280" y="573328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cruces: informe de Ariel León de 2012, mayores de marzo de 2026, lista preliminar de DDRR y siete planos COM. Los casos individuales remiten a las secciones, cuentas o referencias indicadas en sus respectivas filas.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5624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DDRR: Derechos Reales · COM: planos municipales Contorno Bajo / Mamani · Matriz de cruces e informe de Ariel León.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7498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FOTOGRÁFICO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TERRENOS · 2022–2026   ·   1/2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13716" cy="22860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6200000">
            <a:off x="-868680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y diagnóstico</a:t>
            </a:r>
            <a:endParaRPr lang="en-US" sz="1600" dirty="0"/>
          </a:p>
        </p:txBody>
      </p:sp>
      <p:pic>
        <p:nvPicPr>
          <p:cNvPr id="9" name="Foto talud de excavación" descr="Corte de terreno con talud vertical junto al camino de acceso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743200"/>
            <a:ext cx="338328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3192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>
            <a:off x="386791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talud de excavación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de terreno con talud vertical junto al camino de acceso.</a:t>
            </a:r>
            <a:endParaRPr lang="en-US" sz="1400" dirty="0"/>
          </a:p>
        </p:txBody>
      </p:sp>
      <p:pic>
        <p:nvPicPr>
          <p:cNvPr id="13" name="Foto depresión o poza" descr="Gran depresión con material gris al fondo, tras un montículo de tierra removida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743200"/>
            <a:ext cx="3383280" cy="1645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0664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5" name="Shape 11"/>
          <p:cNvSpPr/>
          <p:nvPr/>
        </p:nvSpPr>
        <p:spPr>
          <a:xfrm>
            <a:off x="734263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1772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depresión o poza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 depresión con material gris al fondo, tras un montículo de tierra removida.</a:t>
            </a:r>
            <a:endParaRPr lang="en-US" sz="1400" dirty="0"/>
          </a:p>
        </p:txBody>
      </p:sp>
      <p:pic>
        <p:nvPicPr>
          <p:cNvPr id="17" name="Foto camino y residuos" descr="Camino de tierra con restos y material removido en la ladera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18120" y="2743200"/>
            <a:ext cx="3383280" cy="16459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88136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9" name="Shape 14"/>
          <p:cNvSpPr/>
          <p:nvPr/>
        </p:nvSpPr>
        <p:spPr>
          <a:xfrm>
            <a:off x="1081735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9244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y residuos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de tierra con restos y material removido en la ladera.</a:t>
            </a:r>
            <a:endParaRPr lang="en-US" sz="1400" dirty="0"/>
          </a:p>
        </p:txBody>
      </p:sp>
      <p:pic>
        <p:nvPicPr>
          <p:cNvPr id="21" name="Foto geomembrana" descr="Revestimiento plástico en una excavación rectangular; posible poza o dique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71600" y="4389120"/>
            <a:ext cx="3383280" cy="1417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691640" y="5440680"/>
            <a:ext cx="0" cy="68580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23" name="Shape 17"/>
          <p:cNvSpPr/>
          <p:nvPr/>
        </p:nvSpPr>
        <p:spPr>
          <a:xfrm>
            <a:off x="1627632" y="6062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828800" y="58795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geomembrana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Revestimiento plástico en una excavación rectangular; posible poza o dique.</a:t>
            </a:r>
            <a:endParaRPr lang="en-US" sz="1400" dirty="0"/>
          </a:p>
        </p:txBody>
      </p:sp>
      <p:pic>
        <p:nvPicPr>
          <p:cNvPr id="25" name="Foto cerco perimetral" descr="Cerco de malla con postes; al fondo, material acopiado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46320" y="4389120"/>
            <a:ext cx="3383280" cy="1417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166360" y="5440680"/>
            <a:ext cx="0" cy="68580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27" name="Shape 20"/>
          <p:cNvSpPr/>
          <p:nvPr/>
        </p:nvSpPr>
        <p:spPr>
          <a:xfrm>
            <a:off x="5102352" y="6062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303520" y="58795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cerco perimetral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Cerco de malla con postes; al fondo, material acopiado.</a:t>
            </a:r>
            <a:endParaRPr lang="en-US" sz="1400" dirty="0"/>
          </a:p>
        </p:txBody>
      </p:sp>
      <p:pic>
        <p:nvPicPr>
          <p:cNvPr id="29" name="Foto infraestructura al fondo" descr="Techos naranja al fondo; primer plano oscuro, de aspecto quemado.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21040" y="4389120"/>
            <a:ext cx="3383280" cy="1417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641080" y="5440680"/>
            <a:ext cx="0" cy="68580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31" name="Shape 23"/>
          <p:cNvSpPr/>
          <p:nvPr/>
        </p:nvSpPr>
        <p:spPr>
          <a:xfrm>
            <a:off x="8577072" y="6062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778240" y="58795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al fondo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naranja al fondo; primer plano oscuro, de aspecto quemado.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6868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Informe terrenos Viacha, sección Inspección (Directoria de Gestión Patrimonial y Contingencias, ago. 2026). Las fotografías no se vinculan a ninguno de los cinco casos.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15875">
            <a:solidFill>
              <a:srgbClr val="3A444C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7498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FOTOGRÁFICO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TERRENOS · 2022–2026   ·   2/2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13716" cy="22860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6200000">
            <a:off x="-868680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y diagnóstico</a:t>
            </a:r>
            <a:endParaRPr lang="en-US" sz="1600" dirty="0"/>
          </a:p>
        </p:txBody>
      </p:sp>
      <p:pic>
        <p:nvPicPr>
          <p:cNvPr id="9" name="Foto línea eléctrica" descr="Poste y cable sobre pajonal y tierra roja removida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743200"/>
            <a:ext cx="338328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3192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>
            <a:off x="386791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eléctrica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 y cable sobre pajonal y tierra roja removida.</a:t>
            </a:r>
            <a:endParaRPr lang="en-US" sz="1400" dirty="0"/>
          </a:p>
        </p:txBody>
      </p:sp>
      <p:pic>
        <p:nvPicPr>
          <p:cNvPr id="13" name="Foto camino de tierra roja" descr="Huella de tierra roja entre pajonales; horizonte abierto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743200"/>
            <a:ext cx="3383280" cy="1645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0664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5" name="Shape 11"/>
          <p:cNvSpPr/>
          <p:nvPr/>
        </p:nvSpPr>
        <p:spPr>
          <a:xfrm>
            <a:off x="734263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1772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de tierra roja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de tierra roja entre pajonales; horizonte abierto.</a:t>
            </a:r>
            <a:endParaRPr lang="en-US" sz="1400" dirty="0"/>
          </a:p>
        </p:txBody>
      </p:sp>
      <p:pic>
        <p:nvPicPr>
          <p:cNvPr id="17" name="Foto barro y charcos" descr="Terreno removido con charcos y huellas de maquinaria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18120" y="2743200"/>
            <a:ext cx="3383280" cy="16459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881360" y="1920240"/>
            <a:ext cx="0" cy="123444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19" name="Shape 14"/>
          <p:cNvSpPr/>
          <p:nvPr/>
        </p:nvSpPr>
        <p:spPr>
          <a:xfrm>
            <a:off x="10817352" y="1856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92440" y="17373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barro y charcos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 removido con charcos y huellas de maquinaria.</a:t>
            </a:r>
            <a:endParaRPr lang="en-US" sz="1400" dirty="0"/>
          </a:p>
        </p:txBody>
      </p:sp>
      <p:pic>
        <p:nvPicPr>
          <p:cNvPr id="21" name="Foto terreno removido" descr="Superficie plana con tierra removida y sin delimitación visible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71600" y="4389120"/>
            <a:ext cx="3383280" cy="1417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691640" y="5440680"/>
            <a:ext cx="0" cy="68580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23" name="Shape 17"/>
          <p:cNvSpPr/>
          <p:nvPr/>
        </p:nvSpPr>
        <p:spPr>
          <a:xfrm>
            <a:off x="1627632" y="6062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828800" y="58795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 removido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plana con tierra removida y sin delimitación visible.</a:t>
            </a:r>
            <a:endParaRPr lang="en-US" sz="1400" dirty="0"/>
          </a:p>
        </p:txBody>
      </p:sp>
      <p:pic>
        <p:nvPicPr>
          <p:cNvPr id="25" name="Foto explanada con lámina" descr="Material removido y lámina plástica a la izquierda del encuadre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46320" y="4389120"/>
            <a:ext cx="3383280" cy="1417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166360" y="5440680"/>
            <a:ext cx="0" cy="685800"/>
          </a:xfrm>
          <a:prstGeom prst="line">
            <a:avLst/>
          </a:prstGeom>
          <a:noFill/>
          <a:ln w="12700">
            <a:solidFill>
              <a:srgbClr val="1B2126"/>
            </a:solidFill>
            <a:prstDash val="sysDot"/>
          </a:ln>
        </p:spPr>
      </p:sp>
      <p:sp>
        <p:nvSpPr>
          <p:cNvPr id="27" name="Shape 20"/>
          <p:cNvSpPr/>
          <p:nvPr/>
        </p:nvSpPr>
        <p:spPr>
          <a:xfrm>
            <a:off x="5102352" y="6062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303520" y="58795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explanada con lámina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removido y lámina plástica a la izquierda del encuadre.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68680" y="66019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Informe terrenos Viacha, sección Inspección (Directoria de Gestión Patrimonial y Contingencias, ago. 2026). Las fotografías no se vinculan a ninguno de los cinco casos.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· EVALUACIÓN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Riesgos que impiden concluir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revisión identifica necesidades de verificación; no emite conclusión jurídica sobre dominio o posesión.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011680"/>
            <a:ext cx="1371600" cy="1371600"/>
          </a:xfrm>
          <a:prstGeom prst="ellipse">
            <a:avLst/>
          </a:prstGeom>
          <a:ln w="15875">
            <a:solidFill>
              <a:srgbClr val="3A44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21945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3A44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2514600" y="2697480"/>
            <a:ext cx="146304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8" name="Text 6"/>
          <p:cNvSpPr txBox="1"/>
          <p:nvPr/>
        </p:nvSpPr>
        <p:spPr>
          <a:xfrm>
            <a:off x="30632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TITULARIDAD Y VIGENCIA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25880" y="4114800"/>
            <a:ext cx="1005840" cy="27432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988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Chávez tiene folio revisado en los documentos disponibles; los demás dependen de referencias y copias.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011680"/>
            <a:ext cx="1371600" cy="1371600"/>
          </a:xfrm>
          <a:prstGeom prst="ellipse">
            <a:avLst/>
          </a:prstGeom>
          <a:ln w="44450">
            <a:solidFill>
              <a:srgbClr val="B2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1945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23A3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5349240" y="2697480"/>
            <a:ext cx="146304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17" name="Text 15"/>
          <p:cNvSpPr txBox="1"/>
          <p:nvPr/>
        </p:nvSpPr>
        <p:spPr>
          <a:xfrm>
            <a:off x="5897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520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FÍSICA Y SUPERFICIE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60520" y="4114800"/>
            <a:ext cx="1005840" cy="27432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052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4988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ligar matrícula, plano y polígono levantado; Antonio presenta una diferencia aritmética relevante.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2011680"/>
            <a:ext cx="1371600" cy="1371600"/>
          </a:xfrm>
          <a:prstGeom prst="ellipse">
            <a:avLst/>
          </a:prstGeom>
          <a:ln w="22225">
            <a:solidFill>
              <a:srgbClr val="3A444C"/>
            </a:solidFill>
            <a:prstDash val="sysDot"/>
          </a:ln>
        </p:spPr>
      </p:sp>
      <p:sp>
        <p:nvSpPr>
          <p:cNvPr id="24" name="Text 22"/>
          <p:cNvSpPr txBox="1"/>
          <p:nvPr/>
        </p:nvSpPr>
        <p:spPr>
          <a:xfrm>
            <a:off x="7040880" y="21945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3A44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8183880" y="2697480"/>
            <a:ext cx="146304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ysDot"/>
          </a:ln>
        </p:spPr>
      </p:sp>
      <p:sp>
        <p:nvSpPr>
          <p:cNvPr id="26" name="Text 24"/>
          <p:cNvSpPr txBox="1"/>
          <p:nvPr/>
        </p:nvSpPr>
        <p:spPr>
          <a:xfrm>
            <a:off x="8732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520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INDIVIDUALIZACIÓN / DUPLICIDAD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95160" y="4114800"/>
            <a:ext cx="1005840" cy="27432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9516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4988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colisión Quispe-Limachi y repetición de tablas municipales no resuelta.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46920" y="2011680"/>
            <a:ext cx="1371600" cy="1371600"/>
          </a:xfrm>
          <a:prstGeom prst="ellipse">
            <a:avLst/>
          </a:prstGeom>
          <a:ln w="19050">
            <a:solidFill>
              <a:srgbClr val="3A444C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875520" y="21945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3A44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54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3520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CONTABLE Y SEGUIMIENTO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829800" y="4114800"/>
            <a:ext cx="1005840" cy="27432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2980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4988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no indicada en dos saldos y campos de responsable/estado/fecha vacíos.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623560"/>
            <a:ext cx="11274552" cy="73152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623560"/>
            <a:ext cx="73152" cy="7315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623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DE CONTROL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estos antecedentes no se confirma que sean cinco predios distintos ni que las superficies coincidan con polígonos físicos vigentes.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562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cinco fichas de caso; Matriz de Cruces; Seguimiento_INCERPAZ.xlsx.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5F6A7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 · ACCIONES RECOMENDADAS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12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de cierre documental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frentes en paralelo; las fechas y responsables deben asignarse en la matriz de seguimiento.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01952"/>
            <a:ext cx="3611880" cy="59436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019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019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 / registral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2670048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33472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folios certificados vigentes de cada matrícula identificada.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383280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34670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Chávez: verificar titularidad, gravámenes y saldo de cuota.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4096512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059936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Localizar contratos y testimonios originales; aclarar transferencia Antonio y referencias Quispe.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809744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77316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cadena de tradición y correspondencia titular–matrícula.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88536" y="1901952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8536" y="1901952"/>
            <a:ext cx="3611880" cy="5943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7136" y="19019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19019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/ catastral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9704" y="2670048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970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82896" y="2633472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planos municipales certificados y archivos digitales de polígonos.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9704" y="3383280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9704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82896" y="334670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Georreferenciar las parcelas candidatas y contrastar superficie y linderos.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9704" y="4096512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970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4059936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si Mamani y Contorno Bajo corresponden a la misma ubicación.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89704" y="4809744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9704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882896" y="477316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superposiciones y si las tablas repetidas describen una o varias parcelas.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19872" y="1901952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19872" y="1901952"/>
            <a:ext cx="3611880" cy="594360"/>
          </a:xfrm>
          <a:prstGeom prst="rect">
            <a:avLst/>
          </a:prstGeom>
          <a:solidFill>
            <a:srgbClr val="5A6670"/>
          </a:solidFill>
          <a:ln w="12700">
            <a:solidFill>
              <a:srgbClr val="5A667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48472" y="19019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897112" y="19019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Contable / gestión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1040" y="2670048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210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14232" y="2633472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moneda, fecha, comprobantes y origen de saldos 12102002030 y 12102002038.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3383280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10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714232" y="334670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Conciliar saldos contables con contratos, pagos y asientos patrimoniales.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21040" y="4096512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714232" y="4059936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responsable, estado, acción y fecha en Seguimiento_INCERPAZ.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21040" y="4809744"/>
            <a:ext cx="274320" cy="274320"/>
          </a:xfrm>
          <a:prstGeom prst="ellipse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21040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714232" y="477316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cada caso con expediente digital enlazado a folio, plano y polígono.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715000"/>
            <a:ext cx="73152" cy="64008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5715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CIERRE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3108960" y="5715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consolidar titularidad ni áreas hasta enlazar evidencia registral, municipal, geoespacial y contable para cada caso.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562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de requerimientos: brechas de las fichas 03–08 y matriz de seguimiento disponible.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ndo aéreo oscureci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852160" cy="9144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365760"/>
            <a:ext cx="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657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801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365760"/>
            <a:ext cx="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3657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0" y="128016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65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decisión y trazabilidad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CONCLUSIÓN Y FUENTES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65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documental preliminar · corte al 28 de octubre de 2026.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600200"/>
            <a:ext cx="44805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600200"/>
            <a:ext cx="4480560" cy="9144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18288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103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casos documentales priorizados.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2926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no permite afirmar todavía que correspondan a cinco lotes independientes, ni consolidar superficies con bases comparables.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023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cerrar el análisis: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2793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vigente + contrato/testimonio + plano certificado + polígono georreferenciado + respaldo contable.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5166360"/>
            <a:ext cx="3931920" cy="914400"/>
          </a:xfrm>
          <a:prstGeom prst="rect">
            <a:avLst/>
          </a:prstGeom>
          <a:solidFill>
            <a:srgbClr val="1B2126"/>
          </a:solidFill>
          <a:ln w="12700">
            <a:solidFill>
              <a:srgbClr val="1B21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5166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GESTIÓN 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responsables jurídico, técnico y contable para obtener esos documentos y actualizar seguimiento.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212080" y="160020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12080" y="160020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40680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1984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Matriz_Cruces_Terrenos_Arcilla.xlsx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2404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Ariel León 2012, mayores de marzo de 2026, lista DDRR y siete planos COM.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549640" y="160020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549640" y="160020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78240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778240" y="1984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León · Informe Terrenos Arcilla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2404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09/04/2012; antecedentes Antonio, Martha y Hortencia.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212080" y="315468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212080" y="315468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40680" y="3264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40680" y="3538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Roberto Chávez + Folio Real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40680" y="39593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14/10/2026, pp. 1–2; doc. 1.293.550, trámite 1.997.596.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549640" y="315468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549640" y="315468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78240" y="3264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778240" y="3538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INCERPAZ 3.docx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778240" y="39593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preliminar de DDRR: folios y superficies.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212080" y="470916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212080" y="470916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40680" y="4818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440680" y="5093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municipales COM Contorno Bajo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40680" y="5513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4 y parcela 5; fichas planimétricas citadas en la matriz.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549640" y="470916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4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549640" y="4709160"/>
            <a:ext cx="73152" cy="1417320"/>
          </a:xfrm>
          <a:prstGeom prst="rect">
            <a:avLst/>
          </a:prstGeom>
          <a:solidFill>
            <a:srgbClr val="D12B38"/>
          </a:solidFill>
          <a:ln w="12700">
            <a:solidFill>
              <a:srgbClr val="D12B3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778240" y="4818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2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8778240" y="5093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Seguimiento_INCERPAZ.xlsx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8778240" y="5513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 responsable, estado, acción y fecha sin completar en los casos revisados.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5212080" y="6355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Alcance: revisión interna de antecedentes; requiere validación ante Derechos Reales y municipio.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ERPAZ Viacha">
  <a:themeElements>
    <a:clrScheme name="INCERPAZ Viacha">
      <a:dk1>
        <a:srgbClr val="1B2126"/>
      </a:dk1>
      <a:lt1>
        <a:srgbClr val="FFFFFF"/>
      </a:lt1>
      <a:dk2>
        <a:srgbClr val="3A444C"/>
      </a:dk2>
      <a:lt2>
        <a:srgbClr val="F4F5F7"/>
      </a:lt2>
      <a:accent1>
        <a:srgbClr val="C79A45"/>
      </a:accent1>
      <a:accent2>
        <a:srgbClr val="5A6670"/>
      </a:accent2>
      <a:accent3>
        <a:srgbClr val="B23A3A"/>
      </a:accent3>
      <a:accent4>
        <a:srgbClr val="2F6B4F"/>
      </a:accent4>
      <a:accent5>
        <a:srgbClr val="E9D9B5"/>
      </a:accent5>
      <a:accent6>
        <a:srgbClr val="8A939B"/>
      </a:accent6>
      <a:hlink>
        <a:srgbClr val="C79A45"/>
      </a:hlink>
      <a:folHlink>
        <a:srgbClr val="8A939B"/>
      </a:folHlink>
    </a:clrScheme>
    <a:fontScheme name="INCERPAZ Viach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técnico–documental · Cinco casos patrimoniales prioritarios · Viacha 2026</dc:title>
  <dc:subject>PptxGenJS Presentation</dc:subject>
  <dc:creator>INCERPAZ</dc:creator>
  <cp:lastModifiedBy>INCERPAZ</cp:lastModifiedBy>
  <cp:revision>1</cp:revision>
  <dcterms:created xsi:type="dcterms:W3CDTF">2026-10-28T18:16:39Z</dcterms:created>
  <dcterms:modified xsi:type="dcterms:W3CDTF">2026-10-28T18:16:39Z</dcterms:modified>
</cp:coreProperties>
</file>