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Cuota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12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9A4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Roberto Chávez Flores</c:v>
                </c:pt>
                <c:pt idx="1">
                  <c:v>INCERPAZ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80.42</c:v>
                </c:pt>
                <c:pt idx="1">
                  <c:v>19.572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Cuota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212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79A4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Diferencia</c:v>
                </c:pt>
                <c:pt idx="1">
                  <c:v>Compra citada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56.2</c:v>
                </c:pt>
                <c:pt idx="1">
                  <c:v>43.8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Alcance: cinco casos priorizados a partir de la matriz de cruces y documentos disponibles. La imagen aérea es un recurso de contexto, no una delimitación predial. No se afirma que correspondan a cinco polígonos independientes.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matriz mayor identifica registros históricos y preliminares. Las superficies marcadas con asterisco son sumas aritméticas de áreas nominales listadas, no certificaciones vigentes ni polígonos ya conciliados. Antonio: 52.663,14 m² de compra citada frente a 120.281 m² en plano, diferencia aritmética de 67.617,86 m². No interpretar proporciones como cuotas de propiedad.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carpeta de seguimiento tiene campos de responsable, fecha de revisión, estado y acción vacíos para estos registros; el plan de trabajo deja la asignación pendiente. La memoria maestra señala que el inventario general incluye registros preliminares y una discrepancia de conteo en otra consolidación; por ello este informe no extrapola el estado de los cinco casos al universo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principal: Informe documental de terrenos Roberto Chávez, revisión de Folio Real de fecha 14/10/2026; matrícula 2.08.1.01.0019611, superficie 9,3250 ha, titulares Roberto Chávez Flores 80,42% e INCERPAZ Ltda. 19,572%; dos gravámenes. Las cuotas suman 99,992%, diferencia aritmética de 0,008% pendiente de aclaración. La participación ideal no equivale a polígono físico. La lista preliminar atribuye carga tributaria, sin evidencia suficiente sobre ambos asientos. Folio Real documento 1.293.550, trámite 1.997.596, antecedente WANG 1101644; informe documental de terrenos de Roberto Chávez, 14/10/2026, pp. 1–2; mayor cuenta 12102002030. Falta verificar el estado actual del folio. Verificación inmediata: solicitar Folio Real certificado y actualizado, copia íntegra de gravámenes y plano georreferenciado que conecte matrícula y ubicación.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Matriz_Cruces_Terrenos_Arcilla.xlsx, fila Martha Quispe Ali; INCERPAZ.docx; Informe de Ariel León del 09/04/2012, páginas 6–9. Suma aritmética: 13,3570 ha. El testimonio 914/93 aparece como referencia y se reporta inscrito a favor de INCERPAZ, pero no se dispone de cuatro folios certificados vigentes ni polígonos conciliados.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Matriz_Cruces_Terrenos_Arcilla.xlsx, fila Hortencia Quispe de Quispe; INCERPAZ.docx; Informe de Ariel León del 09/04/2012, páginas 6–9. Suma 18,5512 ha. Testimonio 718/96 aparece en copia; Ariel León menciona Quispe-Limachi como referencia separada o relacionada, por lo que no se trata como confirmación independiente ni duplicado confirmado.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Ariel León, Informe Terrenos Arcilla INCERPAZ, 09/04/2012, páginas 1–2: contrato simple de 19/03/2007 por 52.663,14 m²; matrícula 2.08.1.01.0000575 referida en contrato; auditoría de 08/10/2008 reportó documentación fuera de orden/entregada a Alcaldía para regularizar; transferencia no confirmada. El informe de 2012 recomendó pedir certificado de información rápida actualizado. Plano COM Contorno Bajo, parcela 5: 12,0281 ha (120.281 m²), titular señalado Antonio Pérez Mendoza. Diferencia 67.617,86 m²; cociente 43,78% del área de plano y complemento 56,22%, solo cálculo aritmético, no porcentaje de propiedad ni fracción de polígono. Matriz: cuenta 12102002038, saldo 60.556,86 sin moneda indicada. El mapa es recorte referencial; repetición de tabla/plano no acredita identidad física. Secuencia: 2007 contrato citado; 2008 auditoría refiere expediente incompleto; 2012 Ariel León recomienda certificado registral actualizado.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del plano municipal consignada en la Matriz_Cruces_Terrenos_Arcilla.xlsx: COM Contorno Bajo, parcela 4, 2,2664 ha, titular en plano Alberto Gerardo Bleichner Viscarra. La matriz señala que no se localizó título/folio individual. La ficha sitúa el caso en Departamento La Paz, Provincia Ingavi, Municipio Viacha, Distrito 3, Zona Mamani; el nombre de plano “Contorno Bajo” requiere conciliación espacial con esa referencia. El recorte de mapa es visual y no prueba linderos. Fuentes: ficha del plano municipal y Matriz de Cruces.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comparativo construido a partir de las fuentes individuales. No sumar áreas: el conjunto mezcla superficie registral, sumas nominales de áreas listadas, superficie contractual y superficie planimétrica. La fila Antonio contrasta bases distintas. Los próximos documentos propuestos son requerimientos para verificación, no documentos confirmados como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de avance por caso y documentos fuente, según la información adicional entregada: lista preliminar de DDRR (INCERPAZ 3.docx), Folio Real doc. 1.293.550, trámite 1.997.596, antecedente WANG 1101644, informe de Ariel León (§ III.1, § IV.1), informe documental Roberto Chávez 14/10/2026, mayores de marzo de 2026 y siete planos 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 de avance por caso y documentos fuente, según la información adicional entregada: lista preliminar de DDRR (INCERPAZ 3.docx), Folio Real doc. 1.293.550, trámite 1.997.596, antecedente WANG 1101644, informe de Ariel León (§ III.1, § IV.1), informe documental Roberto Chávez 14/10/2026, mayores de marzo de 2026 y siete planos 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clasificación de riesgos es una evaluación documental del informe. No equivale a dictamen legal, valuación, certificación de titularidad ni inspección física. La hoja Seguimiento_INCERPAZ.xlsx tiene vacíos los campos de responsable, fecha/estado/acción para estas filas, por lo que no se atribuye responsabilidad ni plazo.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acciones son recomendaciones y no constituyen tareas ya asignadas. No se inventan responsables, presupuesto ni plazos. La matriz de seguimiento existente requiere completar responsable, fecha, estado y acción. La vinculación documental propuesta prioriza folio/cadena, polígono y asiento contable por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consultadas: Matriz_Cruces_Terrenos_Arcilla.xlsx (tab Cruces); MEMORIA_MAESTRA_CLAUDE_DIRECTORIA_GESTION_PATRIMONIAL.md; Informe_documental_terrenos_Roberto_Chavez.docx (14/10/2026); INCERPAZ.docx; Seguimiento_INCERPAZ.xlsx; Ariel León, INFORME TERRENOS ARCILLA INCERPAZ (09/04/2012); fichas/planos municipales COM Contorno Bajo. La conclusión es limitada a la documentación revisada: falta validar folios vigentes, contrato/testimonios, planos certificados, polígonos y asientos contables.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B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1B21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en escala de grises de la zona de arcilla, Viach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0"/>
            <a:ext cx="5333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731520" y="731520"/>
            <a:ext cx="4206240" cy="86868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731520" y="731520"/>
            <a:ext cx="64008" cy="8686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7315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</a:t>
            </a:r>
            <a:endParaRPr lang="en-US" sz="14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TÉCNICO–DOCUMENTAL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patrimoniales</a:t>
            </a:r>
            <a:endParaRPr lang="en-US" sz="5000" dirty="0"/>
          </a:p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prioritarios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731520" y="4434840"/>
            <a:ext cx="100584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4663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Terrenos de arcilla · Viacha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029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 Ingavi · La Paz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4864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de antecedentes registrales, planimétricos y contables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60350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documental: 28 de octubre de 2026</a:t>
            </a:r>
            <a:endParaRPr lang="en-US" sz="1200" dirty="0"/>
          </a:p>
        </p:txBody>
      </p:sp>
      <p:sp>
        <p:nvSpPr>
          <p:cNvPr id="12" name="Etiqueta"/>
          <p:cNvSpPr/>
          <p:nvPr/>
        </p:nvSpPr>
        <p:spPr>
          <a:xfrm>
            <a:off x="7315200" y="5532120"/>
            <a:ext cx="420624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3" name="Etiqueta barra"/>
          <p:cNvSpPr/>
          <p:nvPr/>
        </p:nvSpPr>
        <p:spPr>
          <a:xfrm>
            <a:off x="7315200" y="553212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589520" y="55321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DOCUMENTALES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INTERNO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RESULTADO EJECUTIVO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casos, cinco brechas de verificación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evidencia disponible tiene distinto alcance: un folio revisado, referencias históricas y dos indicios planimétricos.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01952"/>
            <a:ext cx="73152" cy="65836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01952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9019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9,3250 ha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019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revisado; dos gravámenes y cuota ideal.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555480" y="2084832"/>
            <a:ext cx="2011680" cy="29260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55480" y="20848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REGISTRAL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660904"/>
            <a:ext cx="73152" cy="65836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60904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26609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13,3570 ha*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66090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identificadores; superficie sumada desde referencias.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55480" y="2843784"/>
            <a:ext cx="20116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55480" y="284378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DOC. PENDIENTE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3419856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419856"/>
            <a:ext cx="73152" cy="65836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41985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419856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 de Quispe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341985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18,5512 ha*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41985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identificadores; antecedente testimonial por confirmar.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555480" y="3602736"/>
            <a:ext cx="20116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55480" y="3602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DOC. PENDIENTE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4178808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" y="4178808"/>
            <a:ext cx="73152" cy="65836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417880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234440" y="4178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4023360" y="417880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52.663,14 m² / 120.281 m²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1788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citado frente a superficie de parcela en plano.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555480" y="4361688"/>
            <a:ext cx="201168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555480" y="4361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POR CONCILIAR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937760"/>
            <a:ext cx="112745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4937760"/>
            <a:ext cx="73152" cy="65836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493776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1234440" y="493776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G. Bleichner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4023360" y="49377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2,2664 ha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400800" y="493776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consignado en plano municipal; sin folio localizado.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555480" y="5120640"/>
            <a:ext cx="2011680" cy="29260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555480" y="5120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5760720"/>
            <a:ext cx="11274552" cy="566928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5760720"/>
            <a:ext cx="73152" cy="56692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76072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CENTRAL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5760720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 cinco casos documentales priorizados, no cinco polígonos independientes ya acreditados. No se consolida un área total porque las bases y niveles de respaldo difieren.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Matriz_Cruces_Terrenos_Arcilla.xlsx, pestaña Cruces; informes y planos citados en las fichas.  * Suma nominal de superficies listadas.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CÓMO SE LEYÓ EL EXPEDIENTE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y criterio de evidencia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transcribieron las bases disponibles y se evitó completar datos ausentes por inferencia.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01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 RESPALDO</a:t>
            </a:r>
            <a:endParaRPr lang="en-US" sz="1200" dirty="0"/>
          </a:p>
        </p:txBody>
      </p:sp>
      <p:sp>
        <p:nvSpPr>
          <p:cNvPr id="7" name="Tarjeta REGISTRO REVISADO"/>
          <p:cNvSpPr/>
          <p:nvPr/>
        </p:nvSpPr>
        <p:spPr>
          <a:xfrm>
            <a:off x="457200" y="2240280"/>
            <a:ext cx="5577840" cy="1097280"/>
          </a:xfrm>
          <a:prstGeom prst="rect">
            <a:avLst/>
          </a:prstGeom>
          <a:solidFill>
            <a:srgbClr val="E6F0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240280"/>
            <a:ext cx="73152" cy="109728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36829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REVISADO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269748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consultado para Chávez Roberto II; titularidad inscrita y gravámenes consignados.</a:t>
            </a:r>
            <a:endParaRPr lang="en-US" sz="1300" dirty="0"/>
          </a:p>
        </p:txBody>
      </p:sp>
      <p:sp>
        <p:nvSpPr>
          <p:cNvPr id="11" name="Tarjeta REFERENCIA DOCUMENTAL"/>
          <p:cNvSpPr/>
          <p:nvPr/>
        </p:nvSpPr>
        <p:spPr>
          <a:xfrm>
            <a:off x="457200" y="3474720"/>
            <a:ext cx="5577840" cy="109728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10972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60273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 DOCUMENTAL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9319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Testimonios, informes o listados históricos requieren cotejo con certificaciones actuales.</a:t>
            </a:r>
            <a:endParaRPr lang="en-US" sz="1300" dirty="0"/>
          </a:p>
        </p:txBody>
      </p:sp>
      <p:sp>
        <p:nvSpPr>
          <p:cNvPr id="15" name="Tarjeta INDICIO / TRANSFERENCIA PENDIENTE"/>
          <p:cNvSpPr/>
          <p:nvPr/>
        </p:nvSpPr>
        <p:spPr>
          <a:xfrm>
            <a:off x="457200" y="4709160"/>
            <a:ext cx="5577840" cy="109728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4709160"/>
            <a:ext cx="73152" cy="109728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837176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/ TRANSFERENCIA PENDIENTE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663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o copia contractual no acredita por sí sola dominio, vigencia ni polígono.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0" y="1901952"/>
            <a:ext cx="5330952" cy="3904488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72084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NECESARIO PARA CERRAR CADA CASO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596896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2596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2560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o testimonio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28529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original, alcance y partes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3383280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208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33467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actual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6393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titular, gravámenes y tradición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20840" y="4169664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208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1330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y polígono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406640" y="44256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física y superficie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720840" y="4956048"/>
            <a:ext cx="457200" cy="45720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20840" y="4956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406640" y="491947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Contabilidad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4066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cuenta, moneda, comprobante y saldo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7200" y="5943600"/>
            <a:ext cx="11274552" cy="411480"/>
          </a:xfrm>
          <a:prstGeom prst="rect">
            <a:avLst/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 DEL INFORME   </a:t>
            </a:r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documental preliminar; no sustituye certificaciones de Derechos Reales, levantamiento catastral ni peritaje de linderos.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marco: Matriz de Cruces; memoria maestra de inventario; Ariel León (09/04/2012); documentos de folio y seguimiento.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" name="Etiqueta"/>
          <p:cNvSpPr/>
          <p:nvPr/>
        </p:nvSpPr>
        <p:spPr>
          <a:xfrm>
            <a:off x="457200" y="457200"/>
            <a:ext cx="310896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45720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SUPERFICIE EN FOLIO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9,3250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hectáreas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Matrícula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49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2.08.1.01.0019611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97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Cuenta contable relacionada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12102002030 · saldo 10.000,00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3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Moneda no indicada en la matriz.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5212080"/>
            <a:ext cx="3108960" cy="114300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521208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Real doc. 1.293.550 · trámite 1.997.596 · antecedente WANG 1101644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confundir con “Roberto Chávez” (cuenta 12102002026; caso separado).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3200" dirty="0"/>
          </a:p>
        </p:txBody>
      </p:sp>
      <p:sp>
        <p:nvSpPr>
          <p:cNvPr id="18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con mayor respaldo registral disponible; siguen abiertas la carga, la cuota y la localización física.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80560" y="201168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TITULARIDAD CONSIGNADA EN FOLIO REVISADO</a:t>
            </a:r>
            <a:endParaRPr lang="en-US" sz="11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20840" y="2240280"/>
          <a:ext cx="2286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480560" y="3017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INCERPAZ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80560" y="3310128"/>
            <a:ext cx="1371600" cy="457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480560" y="3401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19,572%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144000" y="30175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R. CHÁVEZ FLORES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144000" y="3310128"/>
            <a:ext cx="1371600" cy="457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0" y="34015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80,42%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4480560" y="457200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cuotas suman 99,992%; el 0,008% restante requiere aclaración documental.</a:t>
            </a:r>
            <a:endParaRPr lang="en-US" sz="1200" dirty="0"/>
          </a:p>
        </p:txBody>
      </p:sp>
      <p:sp>
        <p:nvSpPr>
          <p:cNvPr id="29" name="Tarjeta DOS GRAVÁMENES"/>
          <p:cNvSpPr/>
          <p:nvPr/>
        </p:nvSpPr>
        <p:spPr>
          <a:xfrm>
            <a:off x="4480560" y="4937760"/>
            <a:ext cx="3520440" cy="141732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480560" y="4937760"/>
            <a:ext cx="73152" cy="141732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36592" y="5065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GRAVÁMENES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4736592" y="53949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folio registra dos gravámenes; los documentos no detallan ambos asientos ni su estado actual.</a:t>
            </a:r>
            <a:endParaRPr lang="en-US" sz="1200" dirty="0"/>
          </a:p>
        </p:txBody>
      </p:sp>
      <p:sp>
        <p:nvSpPr>
          <p:cNvPr id="33" name="Tarjeta LECTURA DE LA CUOTA"/>
          <p:cNvSpPr/>
          <p:nvPr/>
        </p:nvSpPr>
        <p:spPr>
          <a:xfrm>
            <a:off x="8183880" y="4937760"/>
            <a:ext cx="3520440" cy="1417320"/>
          </a:xfrm>
          <a:prstGeom prst="rect">
            <a:avLst/>
          </a:prstGeom>
          <a:solidFill>
            <a:srgbClr val="F9FAFB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83880" y="49377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39912" y="5065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CUOTA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439912" y="53949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participación de INCERPAZ es ideal: no identifica una fracción deslindada en terreno.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4480560" y="6446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Informe Roberto Chávez (14/10/2026, pp. 1–2); Folio Real; lista preliminar DDRR (INCERPAZ 3.docx).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" name="Etiqueta"/>
          <p:cNvSpPr/>
          <p:nvPr/>
        </p:nvSpPr>
        <p:spPr>
          <a:xfrm>
            <a:off x="457200" y="457200"/>
            <a:ext cx="310896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45720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NOMINAL*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13,3570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hectáreas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 citado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49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914/93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3108960" cy="182880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262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antecedente documental indica inscripción a favor de INCERPAZ; la carpeta revisada no incluye certificados actuales de cada folio.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3200" dirty="0"/>
          </a:p>
        </p:txBody>
      </p:sp>
      <p:sp>
        <p:nvSpPr>
          <p:cNvPr id="15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referencias registrales suman una superficie nominal; falta cotejo individual de vigencia y ubicación.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10312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IDENTIFICADORES Y SUPERFICIES LISTADAS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80560" y="242316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2.08.0.10.0002628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60920" y="262432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2624328"/>
            <a:ext cx="1705446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0" y="2423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3,2504 ha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306324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2.08.0.10.0002626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60920" y="326440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60920" y="3264408"/>
            <a:ext cx="1454173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332720" y="3063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2,7715 ha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80560" y="370332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2.08.0.10.0002627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3272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5,5768 ha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480560" y="434340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6344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01209179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60920" y="4544568"/>
            <a:ext cx="922559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32720" y="4343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1,7583 ha</a:t>
            </a:r>
            <a:endParaRPr lang="en-US" sz="1400" dirty="0"/>
          </a:p>
        </p:txBody>
      </p:sp>
      <p:sp>
        <p:nvSpPr>
          <p:cNvPr id="38" name="Tarjeta * CÁLCULO ARITMÉTICO"/>
          <p:cNvSpPr/>
          <p:nvPr/>
        </p:nvSpPr>
        <p:spPr>
          <a:xfrm>
            <a:off x="4480560" y="5074920"/>
            <a:ext cx="7223760" cy="128016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480560" y="5074920"/>
            <a:ext cx="73152" cy="12801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36592" y="5202936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CÁLCULO ARITMÉTICO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736592" y="553212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total reproduce la suma de áreas anotadas. El identificador 01209179 se conserva tal como aparece en la fuente; no se completa su formato por inferencia.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480560" y="6446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Ariel León § IV.1 (Test. 914/93); lista preliminar DDRR (INCERPAZ 3.docx); Matriz de Cruces.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" name="Etiqueta"/>
          <p:cNvSpPr/>
          <p:nvPr/>
        </p:nvSpPr>
        <p:spPr>
          <a:xfrm>
            <a:off x="457200" y="457200"/>
            <a:ext cx="3108960" cy="8229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457200"/>
            <a:ext cx="64008" cy="8229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PATRIMONIAL 05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SUMA NOMINAL*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18,5512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hectáreas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20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Testimonio citado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749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718/96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3108960" cy="1828800"/>
          </a:xfrm>
          <a:prstGeom prst="rect">
            <a:avLst/>
          </a:prstGeom>
          <a:solidFill>
            <a:srgbClr val="2B343B"/>
          </a:solidFill>
          <a:ln w="12700">
            <a:solidFill>
              <a:srgbClr val="2B34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2628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Fotocopia del testimonio citada en el informe. Otro informe menciona Quispe-Limachi: verificar si se trata de la misma cadena o referencia duplicada.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38404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patrimonial · 05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6583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 de Quispe</a:t>
            </a:r>
            <a:endParaRPr lang="en-US" sz="3200" dirty="0"/>
          </a:p>
        </p:txBody>
      </p:sp>
      <p:sp>
        <p:nvSpPr>
          <p:cNvPr id="15" name="Marca dorada"/>
          <p:cNvSpPr/>
          <p:nvPr/>
        </p:nvSpPr>
        <p:spPr>
          <a:xfrm>
            <a:off x="448056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suma de cuatro referencias es nominal y existe una posible colisión documental que debe resolverse.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10312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IDENTIFICADORES Y SUPERFICIES LISTADAS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80560" y="242316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2.08.0.10.0002686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60920" y="262432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2624328"/>
            <a:ext cx="2255128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0" y="24231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5,2759 ha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306324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63440" y="3063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2.08.0.10.0002689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60920" y="326440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60920" y="3264408"/>
            <a:ext cx="511089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332720" y="3063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1,1957 ha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80560" y="3703320"/>
            <a:ext cx="7223760" cy="548640"/>
          </a:xfrm>
          <a:prstGeom prst="rect">
            <a:avLst/>
          </a:prstGeom>
          <a:solidFill>
            <a:srgbClr val="F4F5F7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634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60920" y="390448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60920" y="3904488"/>
            <a:ext cx="2237218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332720" y="3703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5,2340 ha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480560" y="4343400"/>
            <a:ext cx="72237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663440" y="4343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2.08.0.10.0002687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E2E5E8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60920" y="4544568"/>
            <a:ext cx="2926080" cy="146304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32720" y="4343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6,8456 ha</a:t>
            </a:r>
            <a:endParaRPr lang="en-US" sz="1400" dirty="0"/>
          </a:p>
        </p:txBody>
      </p:sp>
      <p:sp>
        <p:nvSpPr>
          <p:cNvPr id="38" name="Tarjeta PUNTO DE CONTROL"/>
          <p:cNvSpPr/>
          <p:nvPr/>
        </p:nvSpPr>
        <p:spPr>
          <a:xfrm>
            <a:off x="4480560" y="5074920"/>
            <a:ext cx="7223760" cy="1280160"/>
          </a:xfrm>
          <a:prstGeom prst="rect">
            <a:avLst/>
          </a:prstGeom>
          <a:solidFill>
            <a:srgbClr val="FBEAEA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480560" y="5074920"/>
            <a:ext cx="73152" cy="128016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736592" y="5202936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 DE CONTROL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736592" y="553212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consolidar titularidad o superficie, cotejar testimonio 718/96, cadena registral y las referencias “Hortencia Quispe” / “Quispe-Limachi”.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480560" y="6446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Ariel León § IV.1 (Test. 718/96) y § III.1 (Quispe-Limachi); lista preliminar DDRR (INCERPAZ 3.docx).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con la parcela 5 del plano COM Contorno Bajo resalt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0021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09360"/>
            <a:ext cx="6300216" cy="54864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65760" y="63093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RECORTE ILUSTRATIVO · NO ACREDITA LINDEROS NI EQUIVALENCIA DE MATRÍCULA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320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640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766560" y="1280160"/>
            <a:ext cx="4965192" cy="18288"/>
          </a:xfrm>
          <a:prstGeom prst="rect">
            <a:avLst/>
          </a:prstGeom>
          <a:solidFill>
            <a:srgbClr val="DADDE1"/>
          </a:solidFill>
          <a:ln w="12700">
            <a:solidFill>
              <a:srgbClr val="DADDE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1280160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8503920" y="150876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766560" y="21488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/ PLANO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766560" y="2432304"/>
            <a:ext cx="1280160" cy="457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76656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43,8%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10469880" y="21488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0469880" y="2432304"/>
            <a:ext cx="1280160" cy="457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0469880" y="2514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56,2%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3611880"/>
            <a:ext cx="496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Proporción aritmética sobre el área del plano; no es cuota de propiedad ni división física. Diferencia: 67.617,86 m².</a:t>
            </a:r>
            <a:endParaRPr lang="en-US" sz="1100" dirty="0"/>
          </a:p>
        </p:txBody>
      </p:sp>
      <p:sp>
        <p:nvSpPr>
          <p:cNvPr id="17" name="Tarjeta COMPRA CITADA · 52.663,14 m²"/>
          <p:cNvSpPr/>
          <p:nvPr/>
        </p:nvSpPr>
        <p:spPr>
          <a:xfrm>
            <a:off x="6766560" y="4160520"/>
            <a:ext cx="4965192" cy="960120"/>
          </a:xfrm>
          <a:prstGeom prst="rect">
            <a:avLst/>
          </a:prstGeom>
          <a:solidFill>
            <a:srgbClr val="F9FAFB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766560" y="4160520"/>
            <a:ext cx="73152" cy="9601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022592" y="4288536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CITADA · 52.663,14 m²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022592" y="461772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19/03/2007; solo fotocopia de contrato privado. Matrícula referida: 2.08.1.01.0000575.</a:t>
            </a:r>
            <a:endParaRPr lang="en-US" sz="1200" dirty="0"/>
          </a:p>
        </p:txBody>
      </p:sp>
      <p:sp>
        <p:nvSpPr>
          <p:cNvPr id="21" name="Tarjeta PARCELA 5 EN PLANO · 120.281 m²"/>
          <p:cNvSpPr/>
          <p:nvPr/>
        </p:nvSpPr>
        <p:spPr>
          <a:xfrm>
            <a:off x="6766560" y="5212080"/>
            <a:ext cx="4965192" cy="960120"/>
          </a:xfrm>
          <a:prstGeom prst="rect">
            <a:avLst/>
          </a:prstGeom>
          <a:solidFill>
            <a:srgbClr val="FBF1DC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766560" y="5212080"/>
            <a:ext cx="73152" cy="9601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022592" y="5340096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5 EN PLANO · 120.281 m²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022592" y="566928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COM Contorno Bajo, a nombre de Antonio Pérez Mendoza. Alcaldía: no basta para afirmar identidad del predio.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766560" y="64465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Ariel León (09/04/2012), pp. 1–2; informe municipal citado; matriz de cruces; plano COM Contorno Bajo.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n aérea con la parcela 4 marcada con triángulo roj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8229600" y="320040"/>
            <a:ext cx="352044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8229600" y="320040"/>
            <a:ext cx="64008" cy="9144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03920" y="3200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CARTOGRÁFICO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65760" y="320040"/>
            <a:ext cx="4572000" cy="3657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320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N.º 4 · COM CONTORNO BAJO</a:t>
            </a:r>
            <a:endParaRPr lang="en-US" sz="1200" dirty="0"/>
          </a:p>
        </p:txBody>
      </p:sp>
      <p:sp>
        <p:nvSpPr>
          <p:cNvPr id="8" name="Panel de datos"/>
          <p:cNvSpPr/>
          <p:nvPr/>
        </p:nvSpPr>
        <p:spPr>
          <a:xfrm>
            <a:off x="365760" y="914400"/>
            <a:ext cx="475488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914400"/>
            <a:ext cx="4754880" cy="914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11430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· Alberto Gerardo Bleichner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965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SUPERFICIE EN PLANO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194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2,2664</a:t>
            </a:r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hectáreas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971800"/>
            <a:ext cx="4206240" cy="18288"/>
          </a:xfrm>
          <a:prstGeom prst="rect">
            <a:avLst/>
          </a:prstGeom>
          <a:solidFill>
            <a:srgbClr val="DADDE1"/>
          </a:solidFill>
          <a:ln w="12700">
            <a:solidFill>
              <a:srgbClr val="DADDE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31089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 CONSIGNADO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Gerardo Bleichner Viscarra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4206240" cy="73152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080" y="3840480"/>
            <a:ext cx="64008" cy="73152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3840480"/>
            <a:ext cx="3886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/ TÍTULO  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localizado para esta identificación individual.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0080" y="4709160"/>
            <a:ext cx="4206240" cy="1005840"/>
          </a:xfrm>
          <a:prstGeom prst="rect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" y="4709160"/>
            <a:ext cx="64008" cy="10058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" y="470916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POR RECONCILIAR 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Distrito 3 / Mamani; tabla repetida en plano COM Mamani. Comprobar que describan el mismo polígono que COM Contorno Bajo.</a:t>
            </a:r>
            <a:endParaRPr lang="en-US" sz="1400" dirty="0"/>
          </a:p>
        </p:txBody>
      </p:sp>
      <p:sp>
        <p:nvSpPr>
          <p:cNvPr id="22" name="Datos de ubicación"/>
          <p:cNvSpPr/>
          <p:nvPr/>
        </p:nvSpPr>
        <p:spPr>
          <a:xfrm>
            <a:off x="8229600" y="4206240"/>
            <a:ext cx="35204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0" y="4206240"/>
            <a:ext cx="3520440" cy="7315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12480" y="43708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UBICACIÓN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12480" y="46634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149840" y="46634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PAZ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8412480" y="499262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PROVINCIA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1014984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INGAVI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412480" y="532180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MUNICIPIO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10149840" y="53218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VIACHA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412480" y="5650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DISTRITO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149840" y="56509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412480" y="59801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01498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MAMANI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0" y="6309360"/>
            <a:ext cx="6583680" cy="54864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65760" y="63093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 · NO ES PLANO CERTIFICADO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SÍNTESIS DE LOS CINCO CASOS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comparativa de verificación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prioridad responde a la brecha que bloquea la confirmación de identidad, dominio o superficie.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920240"/>
                <a:gridCol w="2468880"/>
                <a:gridCol w="2560320"/>
                <a:gridCol w="22219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/ BASE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RESPALDO DISPONIBLE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PRINCIPAL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0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PRÓXIMO DOCUMENTO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1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Chávez Roberto II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9,3250 ha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 revisado; dos gravámenes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Cuota 99,992%; falta vincular polígono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 certificado + asientos + plano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Martha Quispe Ali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13,3570 ha*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Test. 914/93 citado; 4 IDs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Vigencia, identificación plena y geometría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folios actuales + testimonio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Hortencia Quispe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18,5512 ha*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Test. 718/96 citado; 4 IDs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Posible colisión con Quispe-Limachi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Folios + cadena y testimonio original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Antonio Pérez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52.663,14 vs 120.281 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 en copia; parcela 5 en plano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Transferencia no confirmada; delta 67.617,86 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actual + contrato + polígono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1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Bleichner · parcela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2,2664 ha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Titular consignado en ficha municipal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folio individual localizado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35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Título/folio + plano certificado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6035040"/>
            <a:ext cx="11274552" cy="310896"/>
          </a:xfrm>
          <a:prstGeom prst="rect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603504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4E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Superficie nominal sumada desde referencias; no es un área total certificada ni georreferenciada.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síntesis: Matriz de Cruces y fichas 03–07 de este informe.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NIVEL DE AVANCE Y FUENTES (1/2)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y documentos fuente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permite afirmar cada caso con el respaldo documental disponible hoy.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74520"/>
            <a:ext cx="73152" cy="1371600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solidFill>
            <a:srgbClr val="2F6B4F"/>
          </a:solidFill>
          <a:ln w="12700">
            <a:solidFill>
              <a:srgbClr val="2F6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REGISTRAL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468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Chávez Roberto II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1984248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matrícula 2.08.1.01.0019611 registra 9,3250 ha. En el folio revisado constan Roberto Chávez Flores (80,42 %) e INCERPAZ Ltda. (19,572 %), además de dos gravámenes. Los porcentajes suman 99,992 %; falta aclarar la diferencia y verificar el estado actual del folio.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724912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2770632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preliminar de DDRR, INCERPAZ 3.docx; Folio Real, documento 1.293.550, trámite 1.997.596, antecedente WANG 1101644; informe documental de terrenos de Roberto Chávez, 14/10/2026, pp. 1–2; mayor, cuenta 12102002030.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355848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355848"/>
            <a:ext cx="73152" cy="13716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DOCUMENTAL PENDIENTE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502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Martha Quispe Ali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465576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cita el Testimonio 914/93. La lista preliminar registra cuatro matrículas con una suma nominal de 13,3570 ha. Falta comprobar los folios y su relación con ese testimonio.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4206240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425196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Ariel León, § IV.1, Test. 914/93; lista preliminar de DDRR, INCERPAZ 3.docx, matrículas 2.08.0.10.0002628, 0002626, 0002627 y 01209179.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837176"/>
            <a:ext cx="73152" cy="13716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DOCUMENTAL PENDIENTE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431536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Hortencia Quispe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4946904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cita una fotocopia del Testimonio 718/96. La lista preliminar registra cuatro matrículas, con una suma nominal de 18,5512 ha. Falta cotejar los folios y descartar una posible colisión con el registro “Quispe-Limachi”.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383280" y="5687568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83280" y="5733288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Ariel León, § IV.1, Test. 718/96; lista preliminar de DDRR, INCERPAZ 3.docx, matrículas 2.08.0.10.0002686, 0002689, 0002688 y 0002687; referencia adicional al Test. 718/96 en § III.1 para Quispe-Limachi.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DDRR: Derechos Reales · COM: planos municipales Contorno Bajo / Mamani · Matriz de cruces e informe de Ariel León.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NIVEL DE AVANCE Y FUENTES (2/2)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 y documentos fuente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permite afirmar cada caso con el respaldo documental disponible hoy.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74520"/>
            <a:ext cx="73152" cy="1371600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0574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 POR CONCILIAR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4688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Antonio Pérez Mendoza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1984248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cita una compra de 52.663,14 m²; el plano muestra una parcela homónima de 120.281 m². La diferencia impide concluir que sea el mismo predio sin revisar contrato, matrícula y polígono.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83280" y="2724912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2770632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de Ariel León: contrato de 19/03/2007 y referencia a auditoría de 08/10/2008; mayor, cuenta 12102002038; plano COM Contorno Bajo, parcela 5. El informe refiere la matrícula 2.08.1.01.0000575.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355848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355848"/>
            <a:ext cx="73152" cy="1371600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35387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INDICIO CARTOGRÁFICO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9502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/ Alberto Gerardo Bleichner Viscarra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465576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plano identifica una parcela de 2,2664 ha a nombre de Bleichner. La lista preliminar revisada no muestra una entrada individual a ese nombre que vincule la parcela con un folio.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4206240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4251960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municipal COM Contorno Bajo, parcela 4; tabla repetida en COM Mamani; lista preliminar de DDRR, INCERPAZ 3.docx.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112745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837176"/>
            <a:ext cx="73152" cy="1371600"/>
          </a:xfrm>
          <a:prstGeom prst="rect">
            <a:avLst/>
          </a:prstGeom>
          <a:solidFill>
            <a:srgbClr val="8A939B"/>
          </a:solidFill>
          <a:ln w="12700">
            <a:solidFill>
              <a:srgbClr val="8A939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solidFill>
            <a:srgbClr val="8A939B"/>
          </a:solidFill>
          <a:ln w="12700">
            <a:solidFill>
              <a:srgbClr val="8A939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0200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PENDIENTE DE IDENTIFICAR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431536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Otros nombres y registros genéricos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4946904"/>
            <a:ext cx="8183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nombres, cuentas contables y referencias zonales que todavía no se pueden asociar con seguridad a una matrícula o polígono específico.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383280" y="5687568"/>
            <a:ext cx="8183880" cy="13716"/>
          </a:xfrm>
          <a:prstGeom prst="rect">
            <a:avLst/>
          </a:prstGeom>
          <a:solidFill>
            <a:srgbClr val="E1E4E7"/>
          </a:solidFill>
          <a:ln w="12700">
            <a:solidFill>
              <a:srgbClr val="E1E4E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83280" y="5733288"/>
            <a:ext cx="8183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  </a:t>
            </a:r>
            <a:pPr indent="0" marL="0">
              <a:buNone/>
            </a:pPr>
            <a:r>
              <a:rPr lang="en-US" sz="11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cruces: informe de Ariel León de 2012, mayores de marzo de 2026, lista preliminar de DDRR y siete planos COM. Los casos individuales remiten a las secciones, cuentas o referencias indicadas en sus respectivas filas.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DDRR: Derechos Reales · COM: planos municipales Contorno Bajo / Mamani · Matriz de cruces e informe de Ariel León.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EVALUACIÓN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Riesgos que impiden una conclusión patrimonial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revisión identifica necesidades de verificación; no emite conclusión jurídica sobre dominio o posesión.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9202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Titularidad y vigencia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0" y="21762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21762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19202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Chávez tiene folio revisado en los documentos disponibles; los demás dependen de referencias y copias.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834640"/>
            <a:ext cx="73152" cy="804672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8346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 física y superficie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0" y="3090672"/>
            <a:ext cx="1097280" cy="292608"/>
          </a:xfrm>
          <a:prstGeom prst="rect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0" y="30906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28346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ligar matrícula, plano y polígono levantado; Antonio presenta una diferencia aritmética relevante.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7490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7490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Individualización / duplicidad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114800" y="40050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37490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Posible colisión Quispe-Limachi y repetición de tablas municipales no resuelta.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11274552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663440"/>
            <a:ext cx="73152" cy="804672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6634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contable y seguimiento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114800" y="4919472"/>
            <a:ext cx="1097280" cy="2926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14800" y="4919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0" y="4663440"/>
            <a:ext cx="6035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Moneda no indicada en dos saldos y campos de responsable/estado/fecha vacíos.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5623560"/>
            <a:ext cx="11274552" cy="73152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623560"/>
            <a:ext cx="73152" cy="7315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1520" y="5623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DE CONTROL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291840" y="5623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estos antecedentes no se confirma que sean cinco predios distintos ni que las superficies coincidan con polígonos físicos vigentes.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cinco fichas de caso; Matriz de Cruces; Seguimiento_INCERPAZ.xlsx.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ACCIONES RECOMENDADAS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cierre documental</a:t>
            </a:r>
            <a:endParaRPr lang="en-US" sz="3200" dirty="0"/>
          </a:p>
        </p:txBody>
      </p:sp>
      <p:sp>
        <p:nvSpPr>
          <p:cNvPr id="4" name="Marca dorada"/>
          <p:cNvSpPr/>
          <p:nvPr/>
        </p:nvSpPr>
        <p:spPr>
          <a:xfrm>
            <a:off x="457200" y="1298448"/>
            <a:ext cx="731520" cy="64008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frentes en paralelo; las fechas y responsables deben asignarse en la matriz de seguimiento.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01952"/>
            <a:ext cx="3611880" cy="59436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Jurídico / registral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Obtener folios certificados vigentes de cada matrícula identificada.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Chávez: verificar titularidad, gravámenes y saldo de cuota.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Localizar contratos y testimonios originales; aclarar transferencia Antonio y referencias Quispe.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Documentar cadena de tradición y correspondencia titular–matrícula.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88536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288536" y="1901952"/>
            <a:ext cx="3611880" cy="59436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065776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/ catastral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489704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89704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82896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Solicitar planos municipales certificados y archivos digitales de polígonos.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89704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489704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882896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Georreferenciar las parcelas candidatas y contrastar superficie y linderos.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89704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8970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882896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si Mamani y Contorno Bajo corresponden a la misma ubicación.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489704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89704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882896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superposiciones y si las tablas repetidas describen una o varias parcelas.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119872" y="1901952"/>
            <a:ext cx="361188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8EB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119872" y="1901952"/>
            <a:ext cx="3611880" cy="594360"/>
          </a:xfrm>
          <a:prstGeom prst="rect">
            <a:avLst/>
          </a:prstGeom>
          <a:solidFill>
            <a:srgbClr val="5A6670"/>
          </a:solidFill>
          <a:ln w="12700">
            <a:solidFill>
              <a:srgbClr val="5A667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48472" y="190195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8897112" y="19019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Contable / gestión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321040" y="2670048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32104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8714232" y="2633472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moneda, fecha, comprobantes y origen de saldos 12102002030 y 12102002038.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321040" y="3383280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32104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346704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Conciliar saldos contables con contratos, pagos y asientos patrimoniales.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321040" y="4096512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21040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8714232" y="4059936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Asignar responsable, estado, acción y fecha en Seguimiento_INCERPAZ.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321040" y="4809744"/>
            <a:ext cx="274320" cy="274320"/>
          </a:xfrm>
          <a:prstGeom prst="ellipse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21040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8714232" y="4773168"/>
            <a:ext cx="2880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Cerrar cada caso con expediente digital enlazado a folio, plano y polígono.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457200" y="5715000"/>
            <a:ext cx="11274552" cy="64008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7200" y="5715000"/>
            <a:ext cx="73152" cy="64008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1520" y="5715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CIERRE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571500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consolidar titularidad ni áreas hasta enlazar evidencia registral, municipal, geoespacial y contable para cada caso.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requerimientos: brechas de las fichas 03–08 y matriz de seguimiento disponible.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A939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o aéreo oscureci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tiqueta"/>
          <p:cNvSpPr/>
          <p:nvPr/>
        </p:nvSpPr>
        <p:spPr>
          <a:xfrm>
            <a:off x="457200" y="365760"/>
            <a:ext cx="585216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4" name="Etiqueta barra"/>
          <p:cNvSpPr/>
          <p:nvPr/>
        </p:nvSpPr>
        <p:spPr>
          <a:xfrm>
            <a:off x="457200" y="365760"/>
            <a:ext cx="64008" cy="91440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657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Y TRAZABILIDAD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y fuentes revisadas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365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documental preliminar · corte al 28 de octubre de 2026.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448056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600200"/>
            <a:ext cx="4480560" cy="9144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8288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F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1031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casos documentales priorizados.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926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evidencia no permite afirmar todavía que correspondan a cinco lotes independientes, ni consolidar superficies con bases comparables.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0233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cerrar el análisis: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427939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folio vigente + contrato/testimonio + plano certificado + polígono georreferenciado + respaldo contable.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" y="5166360"/>
            <a:ext cx="3931920" cy="914400"/>
          </a:xfrm>
          <a:prstGeom prst="rect">
            <a:avLst/>
          </a:prstGeom>
          <a:solidFill>
            <a:srgbClr val="1B2126"/>
          </a:solidFill>
          <a:ln w="12700">
            <a:solidFill>
              <a:srgbClr val="1B21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663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 DE GESTIÓN  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Designar responsables jurídico, técnico y contable para obtener esos documentos y actualizar seguimiento.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212080" y="160020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212080" y="160020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40680" y="1709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1984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Matriz_Cruces_Terrenos_Arcilla.xlsx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440680" y="2404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Ariel León 2012, mayores de marzo de 2026, lista DDRR y siete planos COM.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49640" y="160020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549640" y="160020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709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778240" y="19842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Ariel León · Informe Terrenos Arcilla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778240" y="2404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09/04/2012; antecedentes Antonio, Martha y Hortencia.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212080" y="315468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12080" y="315468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40680" y="32644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440680" y="3538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Roberto Chávez + Folio Real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40680" y="395935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14/10/2026, pp. 1–2; doc. 1.293.550, trámite 1.997.596.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549640" y="315468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549640" y="315468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778240" y="32644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778240" y="3538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INCERPAZ 3.docx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78240" y="395935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preliminar de DDRR: folios y superficies.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212080" y="470916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12080" y="47091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40680" y="4818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440680" y="5093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municipales COM Contorno Bajo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5440680" y="55138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4 y parcela 5; fichas planimétricas citadas en la matriz.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549640" y="4709160"/>
            <a:ext cx="3200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00000">
                <a:alpha val="14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8549640" y="4709160"/>
            <a:ext cx="73152" cy="1417320"/>
          </a:xfrm>
          <a:prstGeom prst="rect">
            <a:avLst/>
          </a:prstGeom>
          <a:solidFill>
            <a:srgbClr val="C79A45"/>
          </a:solidFill>
          <a:ln w="12700">
            <a:solidFill>
              <a:srgbClr val="C79A45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778240" y="48188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9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778240" y="5093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1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Seguimiento_INCERPAZ.xlsx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78240" y="551383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4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Campos de responsable, estado, acción y fecha sin completar en los casos revisados.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212080" y="63550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4E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Alcance: revisión interna de antecedentes; requiere validación ante Derechos Reales y municipio.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ERPAZ Viacha">
  <a:themeElements>
    <a:clrScheme name="INCERPAZ Viacha">
      <a:dk1>
        <a:srgbClr val="1B2126"/>
      </a:dk1>
      <a:lt1>
        <a:srgbClr val="FFFFFF"/>
      </a:lt1>
      <a:dk2>
        <a:srgbClr val="3A444C"/>
      </a:dk2>
      <a:lt2>
        <a:srgbClr val="F4F5F7"/>
      </a:lt2>
      <a:accent1>
        <a:srgbClr val="C79A45"/>
      </a:accent1>
      <a:accent2>
        <a:srgbClr val="5A6670"/>
      </a:accent2>
      <a:accent3>
        <a:srgbClr val="B23A3A"/>
      </a:accent3>
      <a:accent4>
        <a:srgbClr val="2F6B4F"/>
      </a:accent4>
      <a:accent5>
        <a:srgbClr val="E9D9B5"/>
      </a:accent5>
      <a:accent6>
        <a:srgbClr val="8A939B"/>
      </a:accent6>
      <a:hlink>
        <a:srgbClr val="C79A45"/>
      </a:hlink>
      <a:folHlink>
        <a:srgbClr val="8A939B"/>
      </a:folHlink>
    </a:clrScheme>
    <a:fontScheme name="INCERPAZ Viach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técnico–documental · Cinco casos patrimoniales prioritarios · Viacha 2026</dc:title>
  <dc:subject>PptxGenJS Presentation</dc:subject>
  <dc:creator>INCERPAZ</dc:creator>
  <cp:lastModifiedBy>INCERPAZ</cp:lastModifiedBy>
  <cp:revision>1</cp:revision>
  <dcterms:created xsi:type="dcterms:W3CDTF">2026-10-28T16:42:35Z</dcterms:created>
  <dcterms:modified xsi:type="dcterms:W3CDTF">2026-10-28T16:42:35Z</dcterms:modified>
</cp:coreProperties>
</file>